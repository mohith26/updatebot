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Lst>
  <p:sldSz cy="10058400" cx="7772400"/>
  <p:notesSz cx="6858000" cy="9144000"/>
  <p:embeddedFontLst>
    <p:embeddedFont>
      <p:font typeface="Inter SemiBold"/>
      <p:regular r:id="rId9"/>
      <p:bold r:id="rId10"/>
      <p:italic r:id="rId11"/>
      <p:boldItalic r:id="rId12"/>
    </p:embeddedFont>
    <p:embeddedFont>
      <p:font typeface="Merriweather Light"/>
      <p:regular r:id="rId13"/>
      <p:bold r:id="rId14"/>
      <p:italic r:id="rId15"/>
      <p:boldItalic r:id="rId16"/>
    </p:embeddedFont>
    <p:embeddedFont>
      <p:font typeface="Schibsted Grotesk"/>
      <p:regular r:id="rId17"/>
      <p:bold r:id="rId18"/>
      <p:italic r:id="rId19"/>
      <p:boldItalic r:id="rId20"/>
    </p:embeddedFont>
    <p:embeddedFont>
      <p:font typeface="Inter"/>
      <p:regular r:id="rId21"/>
      <p:bold r:id="rId22"/>
      <p:italic r:id="rId23"/>
      <p:boldItalic r:id="rId24"/>
    </p:embeddedFont>
    <p:embeddedFont>
      <p:font typeface="Source Code Pro"/>
      <p:regular r:id="rId25"/>
      <p:bold r:id="rId26"/>
      <p:italic r:id="rId27"/>
      <p:boldItalic r:id="rId28"/>
    </p:embeddedFont>
    <p:embeddedFont>
      <p:font typeface="Source Code Pro SemiBold"/>
      <p:regular r:id="rId29"/>
      <p:bold r:id="rId30"/>
      <p:italic r:id="rId31"/>
      <p:boldItalic r:id="rId32"/>
    </p:embeddedFont>
    <p:embeddedFont>
      <p:font typeface="Schibsted Grotesk SemiBold"/>
      <p:regular r:id="rId33"/>
      <p:bold r:id="rId34"/>
      <p:italic r:id="rId35"/>
      <p:boldItalic r:id="rId36"/>
    </p:embeddedFont>
    <p:embeddedFont>
      <p:font typeface="Spectral Medium"/>
      <p:regular r:id="rId37"/>
      <p:bold r:id="rId38"/>
      <p:italic r:id="rId39"/>
      <p:boldItalic r:id="rId40"/>
    </p:embeddedFont>
    <p:embeddedFont>
      <p:font typeface="Schibsted Grotesk Medium"/>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Michelle Hanley"/>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SpectralMedium-boldItalic.fntdata"/><Relationship Id="rId20" Type="http://schemas.openxmlformats.org/officeDocument/2006/relationships/font" Target="fonts/SchibstedGrotesk-boldItalic.fntdata"/><Relationship Id="rId42" Type="http://schemas.openxmlformats.org/officeDocument/2006/relationships/font" Target="fonts/SchibstedGroteskMedium-bold.fntdata"/><Relationship Id="rId41" Type="http://schemas.openxmlformats.org/officeDocument/2006/relationships/font" Target="fonts/SchibstedGroteskMedium-regular.fntdata"/><Relationship Id="rId22" Type="http://schemas.openxmlformats.org/officeDocument/2006/relationships/font" Target="fonts/Inter-bold.fntdata"/><Relationship Id="rId44" Type="http://schemas.openxmlformats.org/officeDocument/2006/relationships/font" Target="fonts/SchibstedGroteskMedium-boldItalic.fntdata"/><Relationship Id="rId21" Type="http://schemas.openxmlformats.org/officeDocument/2006/relationships/font" Target="fonts/Inter-regular.fntdata"/><Relationship Id="rId43" Type="http://schemas.openxmlformats.org/officeDocument/2006/relationships/font" Target="fonts/SchibstedGroteskMedium-italic.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font" Target="fonts/InterSemiBold-regular.fntdata"/><Relationship Id="rId26" Type="http://schemas.openxmlformats.org/officeDocument/2006/relationships/font" Target="fonts/SourceCodePro-bold.fntdata"/><Relationship Id="rId25" Type="http://schemas.openxmlformats.org/officeDocument/2006/relationships/font" Target="fonts/SourceCodePro-regular.fntdata"/><Relationship Id="rId28" Type="http://schemas.openxmlformats.org/officeDocument/2006/relationships/font" Target="fonts/SourceCodePro-boldItalic.fntdata"/><Relationship Id="rId27" Type="http://schemas.openxmlformats.org/officeDocument/2006/relationships/font" Target="fonts/SourceCodePr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urceCodePro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urceCodeProSemiBold-italic.fntdata"/><Relationship Id="rId30" Type="http://schemas.openxmlformats.org/officeDocument/2006/relationships/font" Target="fonts/SourceCodeProSemiBold-bold.fntdata"/><Relationship Id="rId11" Type="http://schemas.openxmlformats.org/officeDocument/2006/relationships/font" Target="fonts/InterSemiBold-italic.fntdata"/><Relationship Id="rId33" Type="http://schemas.openxmlformats.org/officeDocument/2006/relationships/font" Target="fonts/SchibstedGroteskSemiBold-regular.fntdata"/><Relationship Id="rId10" Type="http://schemas.openxmlformats.org/officeDocument/2006/relationships/font" Target="fonts/InterSemiBold-bold.fntdata"/><Relationship Id="rId32" Type="http://schemas.openxmlformats.org/officeDocument/2006/relationships/font" Target="fonts/SourceCodeProSemiBold-boldItalic.fntdata"/><Relationship Id="rId13" Type="http://schemas.openxmlformats.org/officeDocument/2006/relationships/font" Target="fonts/MerriweatherLight-regular.fntdata"/><Relationship Id="rId35" Type="http://schemas.openxmlformats.org/officeDocument/2006/relationships/font" Target="fonts/SchibstedGroteskSemiBold-italic.fntdata"/><Relationship Id="rId12" Type="http://schemas.openxmlformats.org/officeDocument/2006/relationships/font" Target="fonts/InterSemiBold-boldItalic.fntdata"/><Relationship Id="rId34" Type="http://schemas.openxmlformats.org/officeDocument/2006/relationships/font" Target="fonts/SchibstedGroteskSemiBold-bold.fntdata"/><Relationship Id="rId15" Type="http://schemas.openxmlformats.org/officeDocument/2006/relationships/font" Target="fonts/MerriweatherLight-italic.fntdata"/><Relationship Id="rId37" Type="http://schemas.openxmlformats.org/officeDocument/2006/relationships/font" Target="fonts/SpectralMedium-regular.fntdata"/><Relationship Id="rId14" Type="http://schemas.openxmlformats.org/officeDocument/2006/relationships/font" Target="fonts/MerriweatherLight-bold.fntdata"/><Relationship Id="rId36" Type="http://schemas.openxmlformats.org/officeDocument/2006/relationships/font" Target="fonts/SchibstedGroteskSemiBold-boldItalic.fntdata"/><Relationship Id="rId17" Type="http://schemas.openxmlformats.org/officeDocument/2006/relationships/font" Target="fonts/SchibstedGrotesk-regular.fntdata"/><Relationship Id="rId39" Type="http://schemas.openxmlformats.org/officeDocument/2006/relationships/font" Target="fonts/SpectralMedium-italic.fntdata"/><Relationship Id="rId16" Type="http://schemas.openxmlformats.org/officeDocument/2006/relationships/font" Target="fonts/MerriweatherLight-boldItalic.fntdata"/><Relationship Id="rId38" Type="http://schemas.openxmlformats.org/officeDocument/2006/relationships/font" Target="fonts/SpectralMedium-bold.fntdata"/><Relationship Id="rId19" Type="http://schemas.openxmlformats.org/officeDocument/2006/relationships/font" Target="fonts/SchibstedGrotesk-italic.fntdata"/><Relationship Id="rId18" Type="http://schemas.openxmlformats.org/officeDocument/2006/relationships/font" Target="fonts/SchibstedGrotesk-bold.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12T16:40:33.364">
    <p:pos x="193" y="589"/>
    <p:text>@mohith@harborcap.com</p:text>
  </p:cm>
  <p:cm authorId="0" idx="2" dt="2026-05-12T16:40:33.364">
    <p:pos x="193" y="589"/>
    <p:text>https://docs.google.com/spreadsheets/d/1QSXur21Kc-8qZbi1yobg8J4Qkb7XNvSYf92a_rYlTpk/edit?gid=1528869265#gid=1528869265</p:text>
  </p:cm>
  <p:cm authorId="0" idx="3" dt="2026-05-12T16:41:26.360">
    <p:pos x="193" y="689"/>
    <p:text>https://docs.google.com/document/d/1E-fqFqPHE_Ul59BVJdgQhKr7u40G5BLpNPC9_3wUsx4/edit?tab=t.0</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b2b3d3207_0_0:notes"/>
          <p:cNvSpPr/>
          <p:nvPr>
            <p:ph idx="2" type="sldImg"/>
          </p:nvPr>
        </p:nvSpPr>
        <p:spPr>
          <a:xfrm>
            <a:off x="2104459"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b2b3d32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330d9cea1_0_1:notes"/>
          <p:cNvSpPr/>
          <p:nvPr>
            <p:ph idx="2" type="sldImg"/>
          </p:nvPr>
        </p:nvSpPr>
        <p:spPr>
          <a:xfrm>
            <a:off x="2104459"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330d9cea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SLIDES_API1362660336_0:notes"/>
          <p:cNvSpPr/>
          <p:nvPr>
            <p:ph idx="2" type="sldImg"/>
          </p:nvPr>
        </p:nvSpPr>
        <p:spPr>
          <a:xfrm>
            <a:off x="2104459"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SLIDES_API136266033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ample">
  <p:cSld name="CUSTOM">
    <p:spTree>
      <p:nvGrpSpPr>
        <p:cNvPr id="8" name="Shape 8"/>
        <p:cNvGrpSpPr/>
        <p:nvPr/>
      </p:nvGrpSpPr>
      <p:grpSpPr>
        <a:xfrm>
          <a:off x="0" y="0"/>
          <a:ext cx="0" cy="0"/>
          <a:chOff x="0" y="0"/>
          <a:chExt cx="0" cy="0"/>
        </a:xfrm>
      </p:grpSpPr>
      <p:sp>
        <p:nvSpPr>
          <p:cNvPr id="9" name="Google Shape;9;p2"/>
          <p:cNvSpPr/>
          <p:nvPr/>
        </p:nvSpPr>
        <p:spPr>
          <a:xfrm>
            <a:off x="304800" y="759475"/>
            <a:ext cx="7170000" cy="5242500"/>
          </a:xfrm>
          <a:prstGeom prst="roundRect">
            <a:avLst>
              <a:gd fmla="val 2382"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pic>
        <p:nvPicPr>
          <p:cNvPr id="10" name="Google Shape;10;p2" title="HC-Logo-Black@720w.png"/>
          <p:cNvPicPr preferRelativeResize="0"/>
          <p:nvPr/>
        </p:nvPicPr>
        <p:blipFill>
          <a:blip r:embed="rId2">
            <a:alphaModFix/>
          </a:blip>
          <a:stretch>
            <a:fillRect/>
          </a:stretch>
        </p:blipFill>
        <p:spPr>
          <a:xfrm>
            <a:off x="304800" y="291002"/>
            <a:ext cx="2652750" cy="206325"/>
          </a:xfrm>
          <a:prstGeom prst="rect">
            <a:avLst/>
          </a:prstGeom>
          <a:noFill/>
          <a:ln>
            <a:noFill/>
          </a:ln>
        </p:spPr>
      </p:pic>
      <p:sp>
        <p:nvSpPr>
          <p:cNvPr id="11" name="Google Shape;11;p2"/>
          <p:cNvSpPr txBox="1"/>
          <p:nvPr/>
        </p:nvSpPr>
        <p:spPr>
          <a:xfrm>
            <a:off x="551250" y="1021010"/>
            <a:ext cx="2652900" cy="1015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200">
                <a:solidFill>
                  <a:schemeClr val="dk2"/>
                </a:solidFill>
                <a:latin typeface="Merriweather Light"/>
                <a:ea typeface="Merriweather Light"/>
                <a:cs typeface="Merriweather Light"/>
                <a:sym typeface="Merriweather Light"/>
              </a:rPr>
              <a:t>Q4 2025 Update</a:t>
            </a:r>
            <a:endParaRPr sz="2200">
              <a:solidFill>
                <a:schemeClr val="dk2"/>
              </a:solidFill>
              <a:latin typeface="Merriweather Light"/>
              <a:ea typeface="Merriweather Light"/>
              <a:cs typeface="Merriweather Light"/>
              <a:sym typeface="Merriweather Light"/>
            </a:endParaRPr>
          </a:p>
          <a:p>
            <a:pPr indent="0" lvl="0" marL="0" rtl="0" algn="l">
              <a:spcBef>
                <a:spcPts val="0"/>
              </a:spcBef>
              <a:spcAft>
                <a:spcPts val="0"/>
              </a:spcAft>
              <a:buClr>
                <a:schemeClr val="dk1"/>
              </a:buClr>
              <a:buSzPts val="1100"/>
              <a:buFont typeface="Arial"/>
              <a:buNone/>
            </a:pPr>
            <a:r>
              <a:rPr lang="en" sz="2200">
                <a:solidFill>
                  <a:schemeClr val="dk1"/>
                </a:solidFill>
                <a:latin typeface="Merriweather Light"/>
                <a:ea typeface="Merriweather Light"/>
                <a:cs typeface="Merriweather Light"/>
                <a:sym typeface="Merriweather Light"/>
              </a:rPr>
              <a:t>Trinity River </a:t>
            </a:r>
            <a:br>
              <a:rPr lang="en" sz="2200">
                <a:solidFill>
                  <a:schemeClr val="dk1"/>
                </a:solidFill>
                <a:latin typeface="Merriweather Light"/>
                <a:ea typeface="Merriweather Light"/>
                <a:cs typeface="Merriweather Light"/>
                <a:sym typeface="Merriweather Light"/>
              </a:rPr>
            </a:br>
            <a:r>
              <a:rPr lang="en" sz="2200">
                <a:solidFill>
                  <a:schemeClr val="dk1"/>
                </a:solidFill>
                <a:latin typeface="Merriweather Light"/>
                <a:ea typeface="Merriweather Light"/>
                <a:cs typeface="Merriweather Light"/>
                <a:sym typeface="Merriweather Light"/>
              </a:rPr>
              <a:t>Holdco LLC</a:t>
            </a:r>
            <a:endParaRPr sz="2200">
              <a:solidFill>
                <a:schemeClr val="dk1"/>
              </a:solidFill>
              <a:latin typeface="Merriweather Light"/>
              <a:ea typeface="Merriweather Light"/>
              <a:cs typeface="Merriweather Light"/>
              <a:sym typeface="Merriweather Light"/>
            </a:endParaRPr>
          </a:p>
        </p:txBody>
      </p:sp>
      <p:pic>
        <p:nvPicPr>
          <p:cNvPr id="12" name="Google Shape;12;p2"/>
          <p:cNvPicPr preferRelativeResize="0"/>
          <p:nvPr/>
        </p:nvPicPr>
        <p:blipFill rotWithShape="1">
          <a:blip r:embed="rId3">
            <a:alphaModFix/>
          </a:blip>
          <a:srcRect b="9789" l="4315" r="35002" t="28642"/>
          <a:stretch/>
        </p:blipFill>
        <p:spPr>
          <a:xfrm>
            <a:off x="3401400" y="1034807"/>
            <a:ext cx="3796200" cy="2567100"/>
          </a:xfrm>
          <a:prstGeom prst="roundRect">
            <a:avLst>
              <a:gd fmla="val 4043" name="adj"/>
            </a:avLst>
          </a:prstGeom>
          <a:noFill/>
          <a:ln>
            <a:noFill/>
          </a:ln>
        </p:spPr>
      </p:pic>
      <p:sp>
        <p:nvSpPr>
          <p:cNvPr id="13" name="Google Shape;13;p2"/>
          <p:cNvSpPr txBox="1"/>
          <p:nvPr/>
        </p:nvSpPr>
        <p:spPr>
          <a:xfrm>
            <a:off x="565048" y="5182475"/>
            <a:ext cx="22773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dk2"/>
                </a:solidFill>
                <a:latin typeface="Schibsted Grotesk SemiBold"/>
                <a:ea typeface="Schibsted Grotesk SemiBold"/>
                <a:cs typeface="Schibsted Grotesk SemiBold"/>
                <a:sym typeface="Schibsted Grotesk SemiBold"/>
              </a:rPr>
              <a:t>Harbor Capital</a:t>
            </a:r>
            <a:endParaRPr sz="1200">
              <a:solidFill>
                <a:schemeClr val="dk2"/>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200">
                <a:solidFill>
                  <a:schemeClr val="dk2"/>
                </a:solidFill>
                <a:latin typeface="Schibsted Grotesk"/>
                <a:ea typeface="Schibsted Grotesk"/>
                <a:cs typeface="Schibsted Grotesk"/>
                <a:sym typeface="Schibsted Grotesk"/>
              </a:rPr>
              <a:t>4029 Guadalupe Street </a:t>
            </a:r>
            <a:endParaRPr sz="1200">
              <a:solidFill>
                <a:schemeClr val="dk2"/>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2"/>
                </a:solidFill>
                <a:latin typeface="Schibsted Grotesk"/>
                <a:ea typeface="Schibsted Grotesk"/>
                <a:cs typeface="Schibsted Grotesk"/>
                <a:sym typeface="Schibsted Grotesk"/>
              </a:rPr>
              <a:t>Austin, TX 78751</a:t>
            </a:r>
            <a:endParaRPr>
              <a:solidFill>
                <a:schemeClr val="dk2"/>
              </a:solidFill>
            </a:endParaRPr>
          </a:p>
        </p:txBody>
      </p:sp>
      <p:sp>
        <p:nvSpPr>
          <p:cNvPr id="14" name="Google Shape;14;p2"/>
          <p:cNvSpPr txBox="1"/>
          <p:nvPr/>
        </p:nvSpPr>
        <p:spPr>
          <a:xfrm>
            <a:off x="5197498" y="301800"/>
            <a:ext cx="2277300" cy="153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i="1" lang="en" sz="1000">
                <a:solidFill>
                  <a:schemeClr val="dk2"/>
                </a:solidFill>
                <a:latin typeface="Schibsted Grotesk"/>
                <a:ea typeface="Schibsted Grotesk"/>
                <a:cs typeface="Schibsted Grotesk"/>
                <a:sym typeface="Schibsted Grotesk"/>
              </a:rPr>
              <a:t>Confidential</a:t>
            </a:r>
            <a:endParaRPr i="1" sz="1000">
              <a:solidFill>
                <a:schemeClr val="dk2"/>
              </a:solidFill>
              <a:latin typeface="Schibsted Grotesk"/>
              <a:ea typeface="Schibsted Grotesk"/>
              <a:cs typeface="Schibsted Grotesk"/>
              <a:sym typeface="Schibsted Grotesk"/>
            </a:endParaRPr>
          </a:p>
        </p:txBody>
      </p:sp>
      <p:sp>
        <p:nvSpPr>
          <p:cNvPr id="15" name="Google Shape;15;p2"/>
          <p:cNvSpPr txBox="1"/>
          <p:nvPr>
            <p:ph idx="12" type="sldNum"/>
          </p:nvPr>
        </p:nvSpPr>
        <p:spPr>
          <a:xfrm>
            <a:off x="7135793" y="9616501"/>
            <a:ext cx="334800" cy="153900"/>
          </a:xfrm>
          <a:prstGeom prst="rect">
            <a:avLst/>
          </a:prstGeom>
          <a:noFill/>
          <a:ln>
            <a:noFill/>
          </a:ln>
        </p:spPr>
        <p:txBody>
          <a:bodyPr anchorCtr="0" anchor="ctr" bIns="0" lIns="0" spcFirstLastPara="1" rIns="0" wrap="square" tIns="0">
            <a:spAutoFit/>
          </a:bodyPr>
          <a:lstStyle>
            <a:lvl1pPr lvl="0" algn="r">
              <a:buNone/>
              <a:defRPr sz="1000">
                <a:solidFill>
                  <a:schemeClr val="dk2"/>
                </a:solidFill>
                <a:latin typeface="Schibsted Grotesk"/>
                <a:ea typeface="Schibsted Grotesk"/>
                <a:cs typeface="Schibsted Grotesk"/>
                <a:sym typeface="Schibsted Grotesk"/>
              </a:defRPr>
            </a:lvl1pPr>
            <a:lvl2pPr lvl="1" algn="r">
              <a:buNone/>
              <a:defRPr sz="1000">
                <a:solidFill>
                  <a:schemeClr val="dk2"/>
                </a:solidFill>
                <a:latin typeface="Schibsted Grotesk"/>
                <a:ea typeface="Schibsted Grotesk"/>
                <a:cs typeface="Schibsted Grotesk"/>
                <a:sym typeface="Schibsted Grotesk"/>
              </a:defRPr>
            </a:lvl2pPr>
            <a:lvl3pPr lvl="2" algn="r">
              <a:buNone/>
              <a:defRPr sz="1000">
                <a:solidFill>
                  <a:schemeClr val="dk2"/>
                </a:solidFill>
                <a:latin typeface="Schibsted Grotesk"/>
                <a:ea typeface="Schibsted Grotesk"/>
                <a:cs typeface="Schibsted Grotesk"/>
                <a:sym typeface="Schibsted Grotesk"/>
              </a:defRPr>
            </a:lvl3pPr>
            <a:lvl4pPr lvl="3" algn="r">
              <a:buNone/>
              <a:defRPr sz="1000">
                <a:solidFill>
                  <a:schemeClr val="dk2"/>
                </a:solidFill>
                <a:latin typeface="Schibsted Grotesk"/>
                <a:ea typeface="Schibsted Grotesk"/>
                <a:cs typeface="Schibsted Grotesk"/>
                <a:sym typeface="Schibsted Grotesk"/>
              </a:defRPr>
            </a:lvl4pPr>
            <a:lvl5pPr lvl="4" algn="r">
              <a:buNone/>
              <a:defRPr sz="1000">
                <a:solidFill>
                  <a:schemeClr val="dk2"/>
                </a:solidFill>
                <a:latin typeface="Schibsted Grotesk"/>
                <a:ea typeface="Schibsted Grotesk"/>
                <a:cs typeface="Schibsted Grotesk"/>
                <a:sym typeface="Schibsted Grotesk"/>
              </a:defRPr>
            </a:lvl5pPr>
            <a:lvl6pPr lvl="5" algn="r">
              <a:buNone/>
              <a:defRPr sz="1000">
                <a:solidFill>
                  <a:schemeClr val="dk2"/>
                </a:solidFill>
                <a:latin typeface="Schibsted Grotesk"/>
                <a:ea typeface="Schibsted Grotesk"/>
                <a:cs typeface="Schibsted Grotesk"/>
                <a:sym typeface="Schibsted Grotesk"/>
              </a:defRPr>
            </a:lvl6pPr>
            <a:lvl7pPr lvl="6" algn="r">
              <a:buNone/>
              <a:defRPr sz="1000">
                <a:solidFill>
                  <a:schemeClr val="dk2"/>
                </a:solidFill>
                <a:latin typeface="Schibsted Grotesk"/>
                <a:ea typeface="Schibsted Grotesk"/>
                <a:cs typeface="Schibsted Grotesk"/>
                <a:sym typeface="Schibsted Grotesk"/>
              </a:defRPr>
            </a:lvl7pPr>
            <a:lvl8pPr lvl="7" algn="r">
              <a:buNone/>
              <a:defRPr sz="1000">
                <a:solidFill>
                  <a:schemeClr val="dk2"/>
                </a:solidFill>
                <a:latin typeface="Schibsted Grotesk"/>
                <a:ea typeface="Schibsted Grotesk"/>
                <a:cs typeface="Schibsted Grotesk"/>
                <a:sym typeface="Schibsted Grotesk"/>
              </a:defRPr>
            </a:lvl8pPr>
            <a:lvl9pPr lvl="8" algn="r">
              <a:buNone/>
              <a:defRPr sz="1000">
                <a:solidFill>
                  <a:schemeClr val="dk2"/>
                </a:solidFill>
                <a:latin typeface="Schibsted Grotesk"/>
                <a:ea typeface="Schibsted Grotesk"/>
                <a:cs typeface="Schibsted Grotesk"/>
                <a:sym typeface="Schibsted Grotesk"/>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nvSpPr>
        <p:spPr>
          <a:xfrm>
            <a:off x="3409675" y="3861602"/>
            <a:ext cx="2102700" cy="1862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300">
                <a:solidFill>
                  <a:schemeClr val="dk2"/>
                </a:solidFill>
                <a:latin typeface="Source Code Pro SemiBold"/>
                <a:ea typeface="Source Code Pro SemiBold"/>
                <a:cs typeface="Source Code Pro SemiBold"/>
                <a:sym typeface="Source Code Pro SemiBold"/>
              </a:rPr>
              <a:t>PROJECT DETAILS</a:t>
            </a:r>
            <a:endParaRPr sz="1300">
              <a:solidFill>
                <a:schemeClr val="dk2"/>
              </a:solidFill>
              <a:latin typeface="Source Code Pro SemiBold"/>
              <a:ea typeface="Source Code Pro SemiBold"/>
              <a:cs typeface="Source Code Pro SemiBold"/>
              <a:sym typeface="Source Code Pro SemiBold"/>
            </a:endParaRPr>
          </a:p>
          <a:p>
            <a:pPr indent="0" lvl="0" marL="0" rtl="0" algn="l">
              <a:spcBef>
                <a:spcPts val="0"/>
              </a:spcBef>
              <a:spcAft>
                <a:spcPts val="0"/>
              </a:spcAft>
              <a:buNone/>
            </a:pPr>
            <a:r>
              <a:t/>
            </a:r>
            <a:endParaRPr sz="12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Address</a:t>
            </a:r>
            <a:endParaRPr sz="12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Corbin Road, Denton TX</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Purchase date</a:t>
            </a:r>
            <a:endParaRPr sz="12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08/29/24</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Purchase price</a:t>
            </a:r>
            <a:endParaRPr sz="12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$57,594,858</a:t>
            </a:r>
            <a:endParaRPr sz="1200">
              <a:solidFill>
                <a:schemeClr val="dk1"/>
              </a:solidFill>
              <a:latin typeface="Schibsted Grotesk"/>
              <a:ea typeface="Schibsted Grotesk"/>
              <a:cs typeface="Schibsted Grotesk"/>
              <a:sym typeface="Schibsted Grotesk"/>
            </a:endParaRPr>
          </a:p>
        </p:txBody>
      </p:sp>
      <p:sp>
        <p:nvSpPr>
          <p:cNvPr id="17" name="Google Shape;17;p2"/>
          <p:cNvSpPr txBox="1"/>
          <p:nvPr/>
        </p:nvSpPr>
        <p:spPr>
          <a:xfrm>
            <a:off x="5652175" y="4246515"/>
            <a:ext cx="1545300" cy="147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Size</a:t>
            </a:r>
            <a:endParaRPr sz="12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606,911 sq ft</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Number of Units</a:t>
            </a:r>
            <a:endParaRPr sz="12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20</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Year Built</a:t>
            </a:r>
            <a:endParaRPr sz="12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2005/2014</a:t>
            </a:r>
            <a:endParaRPr sz="1800">
              <a:solidFill>
                <a:schemeClr val="dk2"/>
              </a:solidFill>
              <a:latin typeface="Schibsted Grotesk"/>
              <a:ea typeface="Schibsted Grotesk"/>
              <a:cs typeface="Schibsted Grotesk"/>
              <a:sym typeface="Schibsted Grotesk"/>
            </a:endParaRPr>
          </a:p>
        </p:txBody>
      </p:sp>
      <p:pic>
        <p:nvPicPr>
          <p:cNvPr id="18" name="Google Shape;18;p2" title="HC-Logo-Icon-Charcoal@720w.png"/>
          <p:cNvPicPr preferRelativeResize="0"/>
          <p:nvPr/>
        </p:nvPicPr>
        <p:blipFill>
          <a:blip r:embed="rId4">
            <a:alphaModFix amt="40000"/>
          </a:blip>
          <a:stretch>
            <a:fillRect/>
          </a:stretch>
        </p:blipFill>
        <p:spPr>
          <a:xfrm>
            <a:off x="301800" y="9569190"/>
            <a:ext cx="256032" cy="192024"/>
          </a:xfrm>
          <a:prstGeom prst="rect">
            <a:avLst/>
          </a:prstGeom>
          <a:noFill/>
          <a:ln>
            <a:noFill/>
          </a:ln>
        </p:spPr>
      </p:pic>
      <p:sp>
        <p:nvSpPr>
          <p:cNvPr id="19" name="Google Shape;19;p2"/>
          <p:cNvSpPr txBox="1"/>
          <p:nvPr/>
        </p:nvSpPr>
        <p:spPr>
          <a:xfrm>
            <a:off x="679467" y="9578056"/>
            <a:ext cx="1887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2"/>
                </a:solidFill>
                <a:latin typeface="Source Code Pro"/>
                <a:ea typeface="Source Code Pro"/>
                <a:cs typeface="Source Code Pro"/>
                <a:sym typeface="Source Code Pro"/>
              </a:rPr>
              <a:t>Made in Texas</a:t>
            </a:r>
            <a:endParaRPr sz="1000">
              <a:solidFill>
                <a:schemeClr val="dk2"/>
              </a:solidFill>
              <a:latin typeface="Source Code Pro"/>
              <a:ea typeface="Source Code Pro"/>
              <a:cs typeface="Source Code Pro"/>
              <a:sym typeface="Source Code Pro"/>
            </a:endParaRPr>
          </a:p>
        </p:txBody>
      </p:sp>
      <p:sp>
        <p:nvSpPr>
          <p:cNvPr id="20" name="Google Shape;20;p2"/>
          <p:cNvSpPr/>
          <p:nvPr/>
        </p:nvSpPr>
        <p:spPr>
          <a:xfrm rot="10800000">
            <a:off x="301800" y="0"/>
            <a:ext cx="2660400" cy="693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spTree>
  </p:cSld>
  <p:clrMapOvr>
    <a:masterClrMapping/>
  </p:clrMapOvr>
  <p:extLst>
    <p:ext uri="{DCECCB84-F9BA-43D5-87BE-67443E8EF086}">
      <p15:sldGuideLst>
        <p15:guide id="1" orient="horz" pos="2658">
          <p15:clr>
            <a:srgbClr val="E46962"/>
          </p15:clr>
        </p15:guide>
        <p15:guide id="2" orient="horz" pos="3614">
          <p15:clr>
            <a:srgbClr val="E46962"/>
          </p15:clr>
        </p15:guide>
        <p15:guide id="3" orient="horz" pos="3981">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emplate">
  <p:cSld name="CUSTOM_2">
    <p:spTree>
      <p:nvGrpSpPr>
        <p:cNvPr id="21" name="Shape 21"/>
        <p:cNvGrpSpPr/>
        <p:nvPr/>
      </p:nvGrpSpPr>
      <p:grpSpPr>
        <a:xfrm>
          <a:off x="0" y="0"/>
          <a:ext cx="0" cy="0"/>
          <a:chOff x="0" y="0"/>
          <a:chExt cx="0" cy="0"/>
        </a:xfrm>
      </p:grpSpPr>
      <p:sp>
        <p:nvSpPr>
          <p:cNvPr id="22" name="Google Shape;22;p3"/>
          <p:cNvSpPr/>
          <p:nvPr/>
        </p:nvSpPr>
        <p:spPr>
          <a:xfrm>
            <a:off x="304800" y="759475"/>
            <a:ext cx="7170000" cy="5242500"/>
          </a:xfrm>
          <a:prstGeom prst="roundRect">
            <a:avLst>
              <a:gd fmla="val 2382"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pic>
        <p:nvPicPr>
          <p:cNvPr id="23" name="Google Shape;23;p3" title="HC-Logo-Black@720w.png"/>
          <p:cNvPicPr preferRelativeResize="0"/>
          <p:nvPr/>
        </p:nvPicPr>
        <p:blipFill>
          <a:blip r:embed="rId2">
            <a:alphaModFix/>
          </a:blip>
          <a:stretch>
            <a:fillRect/>
          </a:stretch>
        </p:blipFill>
        <p:spPr>
          <a:xfrm>
            <a:off x="304800" y="291002"/>
            <a:ext cx="2652750" cy="206325"/>
          </a:xfrm>
          <a:prstGeom prst="rect">
            <a:avLst/>
          </a:prstGeom>
          <a:noFill/>
          <a:ln>
            <a:noFill/>
          </a:ln>
        </p:spPr>
      </p:pic>
      <p:sp>
        <p:nvSpPr>
          <p:cNvPr id="24" name="Google Shape;24;p3"/>
          <p:cNvSpPr txBox="1"/>
          <p:nvPr/>
        </p:nvSpPr>
        <p:spPr>
          <a:xfrm>
            <a:off x="565048" y="5182475"/>
            <a:ext cx="22773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dk2"/>
                </a:solidFill>
                <a:latin typeface="Schibsted Grotesk SemiBold"/>
                <a:ea typeface="Schibsted Grotesk SemiBold"/>
                <a:cs typeface="Schibsted Grotesk SemiBold"/>
                <a:sym typeface="Schibsted Grotesk SemiBold"/>
              </a:rPr>
              <a:t>Harbor Capital</a:t>
            </a:r>
            <a:endParaRPr sz="1200">
              <a:solidFill>
                <a:schemeClr val="dk2"/>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200">
                <a:solidFill>
                  <a:schemeClr val="dk2"/>
                </a:solidFill>
                <a:latin typeface="Schibsted Grotesk"/>
                <a:ea typeface="Schibsted Grotesk"/>
                <a:cs typeface="Schibsted Grotesk"/>
                <a:sym typeface="Schibsted Grotesk"/>
              </a:rPr>
              <a:t>4029 Guadalupe Street </a:t>
            </a:r>
            <a:endParaRPr sz="1200">
              <a:solidFill>
                <a:schemeClr val="dk2"/>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2"/>
                </a:solidFill>
                <a:latin typeface="Schibsted Grotesk"/>
                <a:ea typeface="Schibsted Grotesk"/>
                <a:cs typeface="Schibsted Grotesk"/>
                <a:sym typeface="Schibsted Grotesk"/>
              </a:rPr>
              <a:t>Austin, TX 78751</a:t>
            </a:r>
            <a:endParaRPr>
              <a:solidFill>
                <a:schemeClr val="dk2"/>
              </a:solidFill>
            </a:endParaRPr>
          </a:p>
        </p:txBody>
      </p:sp>
      <p:sp>
        <p:nvSpPr>
          <p:cNvPr id="25" name="Google Shape;25;p3"/>
          <p:cNvSpPr txBox="1"/>
          <p:nvPr/>
        </p:nvSpPr>
        <p:spPr>
          <a:xfrm>
            <a:off x="5197498" y="301800"/>
            <a:ext cx="2277300" cy="153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i="1" lang="en" sz="1000">
                <a:solidFill>
                  <a:schemeClr val="dk2"/>
                </a:solidFill>
                <a:latin typeface="Schibsted Grotesk"/>
                <a:ea typeface="Schibsted Grotesk"/>
                <a:cs typeface="Schibsted Grotesk"/>
                <a:sym typeface="Schibsted Grotesk"/>
              </a:rPr>
              <a:t>Confidential</a:t>
            </a:r>
            <a:endParaRPr i="1" sz="1000">
              <a:solidFill>
                <a:schemeClr val="dk2"/>
              </a:solidFill>
              <a:latin typeface="Schibsted Grotesk"/>
              <a:ea typeface="Schibsted Grotesk"/>
              <a:cs typeface="Schibsted Grotesk"/>
              <a:sym typeface="Schibsted Grotesk"/>
            </a:endParaRPr>
          </a:p>
        </p:txBody>
      </p:sp>
      <p:sp>
        <p:nvSpPr>
          <p:cNvPr id="26" name="Google Shape;26;p3"/>
          <p:cNvSpPr txBox="1"/>
          <p:nvPr>
            <p:ph idx="12" type="sldNum"/>
          </p:nvPr>
        </p:nvSpPr>
        <p:spPr>
          <a:xfrm>
            <a:off x="7135793" y="9616501"/>
            <a:ext cx="334800" cy="153900"/>
          </a:xfrm>
          <a:prstGeom prst="rect">
            <a:avLst/>
          </a:prstGeom>
          <a:noFill/>
          <a:ln>
            <a:noFill/>
          </a:ln>
        </p:spPr>
        <p:txBody>
          <a:bodyPr anchorCtr="0" anchor="ctr" bIns="0" lIns="0" spcFirstLastPara="1" rIns="0" wrap="square" tIns="0">
            <a:spAutoFit/>
          </a:bodyPr>
          <a:lstStyle>
            <a:lvl1pPr lvl="0" algn="r">
              <a:buNone/>
              <a:defRPr sz="1000">
                <a:solidFill>
                  <a:schemeClr val="dk2"/>
                </a:solidFill>
                <a:latin typeface="Schibsted Grotesk"/>
                <a:ea typeface="Schibsted Grotesk"/>
                <a:cs typeface="Schibsted Grotesk"/>
                <a:sym typeface="Schibsted Grotesk"/>
              </a:defRPr>
            </a:lvl1pPr>
            <a:lvl2pPr lvl="1" algn="r">
              <a:buNone/>
              <a:defRPr sz="1000">
                <a:solidFill>
                  <a:schemeClr val="dk2"/>
                </a:solidFill>
                <a:latin typeface="Schibsted Grotesk"/>
                <a:ea typeface="Schibsted Grotesk"/>
                <a:cs typeface="Schibsted Grotesk"/>
                <a:sym typeface="Schibsted Grotesk"/>
              </a:defRPr>
            </a:lvl2pPr>
            <a:lvl3pPr lvl="2" algn="r">
              <a:buNone/>
              <a:defRPr sz="1000">
                <a:solidFill>
                  <a:schemeClr val="dk2"/>
                </a:solidFill>
                <a:latin typeface="Schibsted Grotesk"/>
                <a:ea typeface="Schibsted Grotesk"/>
                <a:cs typeface="Schibsted Grotesk"/>
                <a:sym typeface="Schibsted Grotesk"/>
              </a:defRPr>
            </a:lvl3pPr>
            <a:lvl4pPr lvl="3" algn="r">
              <a:buNone/>
              <a:defRPr sz="1000">
                <a:solidFill>
                  <a:schemeClr val="dk2"/>
                </a:solidFill>
                <a:latin typeface="Schibsted Grotesk"/>
                <a:ea typeface="Schibsted Grotesk"/>
                <a:cs typeface="Schibsted Grotesk"/>
                <a:sym typeface="Schibsted Grotesk"/>
              </a:defRPr>
            </a:lvl4pPr>
            <a:lvl5pPr lvl="4" algn="r">
              <a:buNone/>
              <a:defRPr sz="1000">
                <a:solidFill>
                  <a:schemeClr val="dk2"/>
                </a:solidFill>
                <a:latin typeface="Schibsted Grotesk"/>
                <a:ea typeface="Schibsted Grotesk"/>
                <a:cs typeface="Schibsted Grotesk"/>
                <a:sym typeface="Schibsted Grotesk"/>
              </a:defRPr>
            </a:lvl5pPr>
            <a:lvl6pPr lvl="5" algn="r">
              <a:buNone/>
              <a:defRPr sz="1000">
                <a:solidFill>
                  <a:schemeClr val="dk2"/>
                </a:solidFill>
                <a:latin typeface="Schibsted Grotesk"/>
                <a:ea typeface="Schibsted Grotesk"/>
                <a:cs typeface="Schibsted Grotesk"/>
                <a:sym typeface="Schibsted Grotesk"/>
              </a:defRPr>
            </a:lvl6pPr>
            <a:lvl7pPr lvl="6" algn="r">
              <a:buNone/>
              <a:defRPr sz="1000">
                <a:solidFill>
                  <a:schemeClr val="dk2"/>
                </a:solidFill>
                <a:latin typeface="Schibsted Grotesk"/>
                <a:ea typeface="Schibsted Grotesk"/>
                <a:cs typeface="Schibsted Grotesk"/>
                <a:sym typeface="Schibsted Grotesk"/>
              </a:defRPr>
            </a:lvl7pPr>
            <a:lvl8pPr lvl="7" algn="r">
              <a:buNone/>
              <a:defRPr sz="1000">
                <a:solidFill>
                  <a:schemeClr val="dk2"/>
                </a:solidFill>
                <a:latin typeface="Schibsted Grotesk"/>
                <a:ea typeface="Schibsted Grotesk"/>
                <a:cs typeface="Schibsted Grotesk"/>
                <a:sym typeface="Schibsted Grotesk"/>
              </a:defRPr>
            </a:lvl8pPr>
            <a:lvl9pPr lvl="8" algn="r">
              <a:buNone/>
              <a:defRPr sz="1000">
                <a:solidFill>
                  <a:schemeClr val="dk2"/>
                </a:solidFill>
                <a:latin typeface="Schibsted Grotesk"/>
                <a:ea typeface="Schibsted Grotesk"/>
                <a:cs typeface="Schibsted Grotesk"/>
                <a:sym typeface="Schibsted Grotesk"/>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3"/>
          <p:cNvSpPr/>
          <p:nvPr>
            <p:ph idx="2" type="pic"/>
          </p:nvPr>
        </p:nvSpPr>
        <p:spPr>
          <a:xfrm>
            <a:off x="3402130" y="1034800"/>
            <a:ext cx="3804000" cy="2567100"/>
          </a:xfrm>
          <a:prstGeom prst="roundRect">
            <a:avLst>
              <a:gd fmla="val 3520" name="adj"/>
            </a:avLst>
          </a:prstGeom>
          <a:noFill/>
          <a:ln>
            <a:noFill/>
          </a:ln>
        </p:spPr>
      </p:sp>
      <p:sp>
        <p:nvSpPr>
          <p:cNvPr id="28" name="Google Shape;28;p3"/>
          <p:cNvSpPr/>
          <p:nvPr/>
        </p:nvSpPr>
        <p:spPr>
          <a:xfrm rot="10800000">
            <a:off x="301800" y="0"/>
            <a:ext cx="2660400" cy="693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pic>
        <p:nvPicPr>
          <p:cNvPr id="29" name="Google Shape;29;p3" title="HC-Logo-Icon-Charcoal@720w.png"/>
          <p:cNvPicPr preferRelativeResize="0"/>
          <p:nvPr/>
        </p:nvPicPr>
        <p:blipFill>
          <a:blip r:embed="rId3">
            <a:alphaModFix amt="40000"/>
          </a:blip>
          <a:stretch>
            <a:fillRect/>
          </a:stretch>
        </p:blipFill>
        <p:spPr>
          <a:xfrm>
            <a:off x="301800" y="9569190"/>
            <a:ext cx="256032" cy="192024"/>
          </a:xfrm>
          <a:prstGeom prst="rect">
            <a:avLst/>
          </a:prstGeom>
          <a:noFill/>
          <a:ln>
            <a:noFill/>
          </a:ln>
        </p:spPr>
      </p:pic>
      <p:sp>
        <p:nvSpPr>
          <p:cNvPr id="30" name="Google Shape;30;p3"/>
          <p:cNvSpPr txBox="1"/>
          <p:nvPr/>
        </p:nvSpPr>
        <p:spPr>
          <a:xfrm>
            <a:off x="679467" y="9578056"/>
            <a:ext cx="1887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2"/>
                </a:solidFill>
                <a:latin typeface="Source Code Pro"/>
                <a:ea typeface="Source Code Pro"/>
                <a:cs typeface="Source Code Pro"/>
                <a:sym typeface="Source Code Pro"/>
              </a:rPr>
              <a:t>Made in Texas</a:t>
            </a:r>
            <a:endParaRPr sz="1000">
              <a:solidFill>
                <a:schemeClr val="dk2"/>
              </a:solidFill>
              <a:latin typeface="Source Code Pro"/>
              <a:ea typeface="Source Code Pro"/>
              <a:cs typeface="Source Code Pro"/>
              <a:sym typeface="Source Code Pro"/>
            </a:endParaRPr>
          </a:p>
        </p:txBody>
      </p:sp>
    </p:spTree>
  </p:cSld>
  <p:clrMapOvr>
    <a:masterClrMapping/>
  </p:clrMapOvr>
  <p:extLst>
    <p:ext uri="{DCECCB84-F9BA-43D5-87BE-67443E8EF086}">
      <p15:sldGuideLst>
        <p15:guide id="1" orient="horz" pos="2658">
          <p15:clr>
            <a:srgbClr val="E46962"/>
          </p15:clr>
        </p15:guide>
        <p15:guide id="2" orient="horz" pos="3614">
          <p15:clr>
            <a:srgbClr val="E46962"/>
          </p15:clr>
        </p15:guide>
        <p15:guide id="3" orient="horz" pos="888">
          <p15:clr>
            <a:srgbClr val="E46962"/>
          </p15:clr>
        </p15:guide>
        <p15:guide id="4" orient="horz" pos="3981">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ample - Multiple Properties">
  <p:cSld name="CUSTOM_2_1">
    <p:spTree>
      <p:nvGrpSpPr>
        <p:cNvPr id="31" name="Shape 31"/>
        <p:cNvGrpSpPr/>
        <p:nvPr/>
      </p:nvGrpSpPr>
      <p:grpSpPr>
        <a:xfrm>
          <a:off x="0" y="0"/>
          <a:ext cx="0" cy="0"/>
          <a:chOff x="0" y="0"/>
          <a:chExt cx="0" cy="0"/>
        </a:xfrm>
      </p:grpSpPr>
      <p:sp>
        <p:nvSpPr>
          <p:cNvPr id="32" name="Google Shape;32;p4"/>
          <p:cNvSpPr/>
          <p:nvPr/>
        </p:nvSpPr>
        <p:spPr>
          <a:xfrm>
            <a:off x="304800" y="759475"/>
            <a:ext cx="7170000" cy="7117800"/>
          </a:xfrm>
          <a:prstGeom prst="roundRect">
            <a:avLst>
              <a:gd fmla="val 160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pic>
        <p:nvPicPr>
          <p:cNvPr id="33" name="Google Shape;33;p4" title="HC-Logo-Black@720w.png"/>
          <p:cNvPicPr preferRelativeResize="0"/>
          <p:nvPr/>
        </p:nvPicPr>
        <p:blipFill>
          <a:blip r:embed="rId2">
            <a:alphaModFix/>
          </a:blip>
          <a:stretch>
            <a:fillRect/>
          </a:stretch>
        </p:blipFill>
        <p:spPr>
          <a:xfrm>
            <a:off x="304800" y="291002"/>
            <a:ext cx="2652750" cy="206325"/>
          </a:xfrm>
          <a:prstGeom prst="rect">
            <a:avLst/>
          </a:prstGeom>
          <a:noFill/>
          <a:ln>
            <a:noFill/>
          </a:ln>
        </p:spPr>
      </p:pic>
      <p:sp>
        <p:nvSpPr>
          <p:cNvPr id="34" name="Google Shape;34;p4"/>
          <p:cNvSpPr txBox="1"/>
          <p:nvPr/>
        </p:nvSpPr>
        <p:spPr>
          <a:xfrm>
            <a:off x="4965598" y="987495"/>
            <a:ext cx="2277300" cy="415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900">
                <a:solidFill>
                  <a:schemeClr val="dk2"/>
                </a:solidFill>
                <a:latin typeface="Schibsted Grotesk SemiBold"/>
                <a:ea typeface="Schibsted Grotesk SemiBold"/>
                <a:cs typeface="Schibsted Grotesk SemiBold"/>
                <a:sym typeface="Schibsted Grotesk SemiBold"/>
              </a:rPr>
              <a:t>Harbor Capital</a:t>
            </a:r>
            <a:endParaRPr sz="900">
              <a:solidFill>
                <a:schemeClr val="dk2"/>
              </a:solidFill>
              <a:latin typeface="Schibsted Grotesk SemiBold"/>
              <a:ea typeface="Schibsted Grotesk SemiBold"/>
              <a:cs typeface="Schibsted Grotesk SemiBold"/>
              <a:sym typeface="Schibsted Grotesk SemiBold"/>
            </a:endParaRPr>
          </a:p>
          <a:p>
            <a:pPr indent="0" lvl="0" marL="0" rtl="0" algn="r">
              <a:spcBef>
                <a:spcPts val="0"/>
              </a:spcBef>
              <a:spcAft>
                <a:spcPts val="0"/>
              </a:spcAft>
              <a:buNone/>
            </a:pPr>
            <a:r>
              <a:rPr lang="en" sz="900">
                <a:solidFill>
                  <a:schemeClr val="dk2"/>
                </a:solidFill>
                <a:latin typeface="Schibsted Grotesk"/>
                <a:ea typeface="Schibsted Grotesk"/>
                <a:cs typeface="Schibsted Grotesk"/>
                <a:sym typeface="Schibsted Grotesk"/>
              </a:rPr>
              <a:t>4029 Guadalupe Street </a:t>
            </a:r>
            <a:endParaRPr sz="900">
              <a:solidFill>
                <a:schemeClr val="dk2"/>
              </a:solidFill>
              <a:latin typeface="Schibsted Grotesk"/>
              <a:ea typeface="Schibsted Grotesk"/>
              <a:cs typeface="Schibsted Grotesk"/>
              <a:sym typeface="Schibsted Grotesk"/>
            </a:endParaRPr>
          </a:p>
          <a:p>
            <a:pPr indent="0" lvl="0" marL="0" rtl="0" algn="r">
              <a:spcBef>
                <a:spcPts val="0"/>
              </a:spcBef>
              <a:spcAft>
                <a:spcPts val="0"/>
              </a:spcAft>
              <a:buNone/>
            </a:pPr>
            <a:r>
              <a:rPr lang="en" sz="900">
                <a:solidFill>
                  <a:schemeClr val="dk2"/>
                </a:solidFill>
                <a:latin typeface="Schibsted Grotesk"/>
                <a:ea typeface="Schibsted Grotesk"/>
                <a:cs typeface="Schibsted Grotesk"/>
                <a:sym typeface="Schibsted Grotesk"/>
              </a:rPr>
              <a:t>Austin, TX 78751</a:t>
            </a:r>
            <a:endParaRPr sz="1100">
              <a:solidFill>
                <a:schemeClr val="dk2"/>
              </a:solidFill>
            </a:endParaRPr>
          </a:p>
        </p:txBody>
      </p:sp>
      <p:sp>
        <p:nvSpPr>
          <p:cNvPr id="35" name="Google Shape;35;p4"/>
          <p:cNvSpPr txBox="1"/>
          <p:nvPr/>
        </p:nvSpPr>
        <p:spPr>
          <a:xfrm>
            <a:off x="5197498" y="301800"/>
            <a:ext cx="2277300" cy="153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i="1" lang="en" sz="1000">
                <a:solidFill>
                  <a:schemeClr val="dk2"/>
                </a:solidFill>
                <a:latin typeface="Schibsted Grotesk"/>
                <a:ea typeface="Schibsted Grotesk"/>
                <a:cs typeface="Schibsted Grotesk"/>
                <a:sym typeface="Schibsted Grotesk"/>
              </a:rPr>
              <a:t>Confidential</a:t>
            </a:r>
            <a:endParaRPr i="1" sz="1000">
              <a:solidFill>
                <a:schemeClr val="dk2"/>
              </a:solidFill>
              <a:latin typeface="Schibsted Grotesk"/>
              <a:ea typeface="Schibsted Grotesk"/>
              <a:cs typeface="Schibsted Grotesk"/>
              <a:sym typeface="Schibsted Grotesk"/>
            </a:endParaRPr>
          </a:p>
        </p:txBody>
      </p:sp>
      <p:sp>
        <p:nvSpPr>
          <p:cNvPr id="36" name="Google Shape;36;p4"/>
          <p:cNvSpPr txBox="1"/>
          <p:nvPr>
            <p:ph idx="12" type="sldNum"/>
          </p:nvPr>
        </p:nvSpPr>
        <p:spPr>
          <a:xfrm>
            <a:off x="7135793" y="9616501"/>
            <a:ext cx="334800" cy="153900"/>
          </a:xfrm>
          <a:prstGeom prst="rect">
            <a:avLst/>
          </a:prstGeom>
          <a:noFill/>
          <a:ln>
            <a:noFill/>
          </a:ln>
        </p:spPr>
        <p:txBody>
          <a:bodyPr anchorCtr="0" anchor="ctr" bIns="0" lIns="0" spcFirstLastPara="1" rIns="0" wrap="square" tIns="0">
            <a:spAutoFit/>
          </a:bodyPr>
          <a:lstStyle>
            <a:lvl1pPr lvl="0" algn="r">
              <a:buNone/>
              <a:defRPr sz="1000">
                <a:solidFill>
                  <a:schemeClr val="dk2"/>
                </a:solidFill>
                <a:latin typeface="Schibsted Grotesk"/>
                <a:ea typeface="Schibsted Grotesk"/>
                <a:cs typeface="Schibsted Grotesk"/>
                <a:sym typeface="Schibsted Grotesk"/>
              </a:defRPr>
            </a:lvl1pPr>
            <a:lvl2pPr lvl="1" algn="r">
              <a:buNone/>
              <a:defRPr sz="1000">
                <a:solidFill>
                  <a:schemeClr val="dk2"/>
                </a:solidFill>
                <a:latin typeface="Schibsted Grotesk"/>
                <a:ea typeface="Schibsted Grotesk"/>
                <a:cs typeface="Schibsted Grotesk"/>
                <a:sym typeface="Schibsted Grotesk"/>
              </a:defRPr>
            </a:lvl2pPr>
            <a:lvl3pPr lvl="2" algn="r">
              <a:buNone/>
              <a:defRPr sz="1000">
                <a:solidFill>
                  <a:schemeClr val="dk2"/>
                </a:solidFill>
                <a:latin typeface="Schibsted Grotesk"/>
                <a:ea typeface="Schibsted Grotesk"/>
                <a:cs typeface="Schibsted Grotesk"/>
                <a:sym typeface="Schibsted Grotesk"/>
              </a:defRPr>
            </a:lvl3pPr>
            <a:lvl4pPr lvl="3" algn="r">
              <a:buNone/>
              <a:defRPr sz="1000">
                <a:solidFill>
                  <a:schemeClr val="dk2"/>
                </a:solidFill>
                <a:latin typeface="Schibsted Grotesk"/>
                <a:ea typeface="Schibsted Grotesk"/>
                <a:cs typeface="Schibsted Grotesk"/>
                <a:sym typeface="Schibsted Grotesk"/>
              </a:defRPr>
            </a:lvl4pPr>
            <a:lvl5pPr lvl="4" algn="r">
              <a:buNone/>
              <a:defRPr sz="1000">
                <a:solidFill>
                  <a:schemeClr val="dk2"/>
                </a:solidFill>
                <a:latin typeface="Schibsted Grotesk"/>
                <a:ea typeface="Schibsted Grotesk"/>
                <a:cs typeface="Schibsted Grotesk"/>
                <a:sym typeface="Schibsted Grotesk"/>
              </a:defRPr>
            </a:lvl5pPr>
            <a:lvl6pPr lvl="5" algn="r">
              <a:buNone/>
              <a:defRPr sz="1000">
                <a:solidFill>
                  <a:schemeClr val="dk2"/>
                </a:solidFill>
                <a:latin typeface="Schibsted Grotesk"/>
                <a:ea typeface="Schibsted Grotesk"/>
                <a:cs typeface="Schibsted Grotesk"/>
                <a:sym typeface="Schibsted Grotesk"/>
              </a:defRPr>
            </a:lvl6pPr>
            <a:lvl7pPr lvl="6" algn="r">
              <a:buNone/>
              <a:defRPr sz="1000">
                <a:solidFill>
                  <a:schemeClr val="dk2"/>
                </a:solidFill>
                <a:latin typeface="Schibsted Grotesk"/>
                <a:ea typeface="Schibsted Grotesk"/>
                <a:cs typeface="Schibsted Grotesk"/>
                <a:sym typeface="Schibsted Grotesk"/>
              </a:defRPr>
            </a:lvl7pPr>
            <a:lvl8pPr lvl="7" algn="r">
              <a:buNone/>
              <a:defRPr sz="1000">
                <a:solidFill>
                  <a:schemeClr val="dk2"/>
                </a:solidFill>
                <a:latin typeface="Schibsted Grotesk"/>
                <a:ea typeface="Schibsted Grotesk"/>
                <a:cs typeface="Schibsted Grotesk"/>
                <a:sym typeface="Schibsted Grotesk"/>
              </a:defRPr>
            </a:lvl8pPr>
            <a:lvl9pPr lvl="8" algn="r">
              <a:buNone/>
              <a:defRPr sz="1000">
                <a:solidFill>
                  <a:schemeClr val="dk2"/>
                </a:solidFill>
                <a:latin typeface="Schibsted Grotesk"/>
                <a:ea typeface="Schibsted Grotesk"/>
                <a:cs typeface="Schibsted Grotesk"/>
                <a:sym typeface="Schibsted Grotesk"/>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4"/>
          <p:cNvSpPr/>
          <p:nvPr/>
        </p:nvSpPr>
        <p:spPr>
          <a:xfrm rot="10800000">
            <a:off x="301800" y="0"/>
            <a:ext cx="2660400" cy="693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pic>
        <p:nvPicPr>
          <p:cNvPr id="38" name="Google Shape;38;p4" title="HC-Logo-Icon-Charcoal@720w.png"/>
          <p:cNvPicPr preferRelativeResize="0"/>
          <p:nvPr/>
        </p:nvPicPr>
        <p:blipFill>
          <a:blip r:embed="rId3">
            <a:alphaModFix amt="40000"/>
          </a:blip>
          <a:stretch>
            <a:fillRect/>
          </a:stretch>
        </p:blipFill>
        <p:spPr>
          <a:xfrm>
            <a:off x="301800" y="9569190"/>
            <a:ext cx="256032" cy="192024"/>
          </a:xfrm>
          <a:prstGeom prst="rect">
            <a:avLst/>
          </a:prstGeom>
          <a:noFill/>
          <a:ln>
            <a:noFill/>
          </a:ln>
        </p:spPr>
      </p:pic>
      <p:sp>
        <p:nvSpPr>
          <p:cNvPr id="39" name="Google Shape;39;p4"/>
          <p:cNvSpPr txBox="1"/>
          <p:nvPr/>
        </p:nvSpPr>
        <p:spPr>
          <a:xfrm>
            <a:off x="679467" y="9578056"/>
            <a:ext cx="1887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2"/>
                </a:solidFill>
                <a:latin typeface="Source Code Pro"/>
                <a:ea typeface="Source Code Pro"/>
                <a:cs typeface="Source Code Pro"/>
                <a:sym typeface="Source Code Pro"/>
              </a:rPr>
              <a:t>Made in Texas</a:t>
            </a:r>
            <a:endParaRPr sz="1000">
              <a:solidFill>
                <a:schemeClr val="dk2"/>
              </a:solidFill>
              <a:latin typeface="Source Code Pro"/>
              <a:ea typeface="Source Code Pro"/>
              <a:cs typeface="Source Code Pro"/>
              <a:sym typeface="Source Code Pro"/>
            </a:endParaRPr>
          </a:p>
        </p:txBody>
      </p:sp>
      <p:sp>
        <p:nvSpPr>
          <p:cNvPr id="40" name="Google Shape;40;p4"/>
          <p:cNvSpPr txBox="1"/>
          <p:nvPr/>
        </p:nvSpPr>
        <p:spPr>
          <a:xfrm>
            <a:off x="532182" y="944738"/>
            <a:ext cx="26529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400">
                <a:solidFill>
                  <a:schemeClr val="dk2"/>
                </a:solidFill>
                <a:latin typeface="Merriweather Light"/>
                <a:ea typeface="Merriweather Light"/>
                <a:cs typeface="Merriweather Light"/>
                <a:sym typeface="Merriweather Light"/>
              </a:rPr>
              <a:t>Q4 2025 Update</a:t>
            </a:r>
            <a:endParaRPr sz="2400">
              <a:solidFill>
                <a:schemeClr val="dk1"/>
              </a:solidFill>
              <a:latin typeface="Merriweather Light"/>
              <a:ea typeface="Merriweather Light"/>
              <a:cs typeface="Merriweather Light"/>
              <a:sym typeface="Merriweather Light"/>
            </a:endParaRPr>
          </a:p>
        </p:txBody>
      </p:sp>
      <p:pic>
        <p:nvPicPr>
          <p:cNvPr id="41" name="Google Shape;41;p4"/>
          <p:cNvPicPr preferRelativeResize="0"/>
          <p:nvPr/>
        </p:nvPicPr>
        <p:blipFill rotWithShape="1">
          <a:blip r:embed="rId4">
            <a:alphaModFix/>
          </a:blip>
          <a:srcRect b="7150" l="1768" r="27779" t="24296"/>
          <a:stretch/>
        </p:blipFill>
        <p:spPr>
          <a:xfrm>
            <a:off x="4651425" y="1711925"/>
            <a:ext cx="2594100" cy="1682100"/>
          </a:xfrm>
          <a:prstGeom prst="roundRect">
            <a:avLst>
              <a:gd fmla="val 4043" name="adj"/>
            </a:avLst>
          </a:prstGeom>
          <a:noFill/>
          <a:ln>
            <a:noFill/>
          </a:ln>
        </p:spPr>
      </p:pic>
      <p:sp>
        <p:nvSpPr>
          <p:cNvPr id="42" name="Google Shape;42;p4"/>
          <p:cNvSpPr txBox="1"/>
          <p:nvPr/>
        </p:nvSpPr>
        <p:spPr>
          <a:xfrm>
            <a:off x="529500" y="2378352"/>
            <a:ext cx="2102700" cy="1015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Address</a:t>
            </a:r>
            <a:endParaRPr sz="10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8034 NE Loop 410,</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San Antonio TX</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Purchase date</a:t>
            </a:r>
            <a:endParaRPr sz="10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08/29/24</a:t>
            </a:r>
            <a:endParaRPr sz="1000">
              <a:solidFill>
                <a:schemeClr val="dk1"/>
              </a:solidFill>
              <a:latin typeface="Schibsted Grotesk"/>
              <a:ea typeface="Schibsted Grotesk"/>
              <a:cs typeface="Schibsted Grotesk"/>
              <a:sym typeface="Schibsted Grotesk"/>
            </a:endParaRPr>
          </a:p>
        </p:txBody>
      </p:sp>
      <p:sp>
        <p:nvSpPr>
          <p:cNvPr id="43" name="Google Shape;43;p4"/>
          <p:cNvSpPr txBox="1"/>
          <p:nvPr/>
        </p:nvSpPr>
        <p:spPr>
          <a:xfrm>
            <a:off x="2764575" y="1700952"/>
            <a:ext cx="2277300" cy="1693200"/>
          </a:xfrm>
          <a:prstGeom prst="rect">
            <a:avLst/>
          </a:prstGeom>
          <a:noFill/>
          <a:ln>
            <a:noFill/>
          </a:ln>
        </p:spPr>
        <p:txBody>
          <a:bodyPr anchorCtr="0" anchor="b" bIns="0" lIns="0" spcFirstLastPara="1" rIns="0" wrap="square" tIns="0">
            <a:spAutoFit/>
          </a:bodyPr>
          <a:lstStyle/>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Purchase price</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$57,594,858</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Size</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606,911 sq ft</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Number of Units</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20</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Year Built</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2005/2014</a:t>
            </a:r>
            <a:endParaRPr sz="1000">
              <a:solidFill>
                <a:schemeClr val="dk1"/>
              </a:solidFill>
              <a:latin typeface="Schibsted Grotesk"/>
              <a:ea typeface="Schibsted Grotesk"/>
              <a:cs typeface="Schibsted Grotesk"/>
              <a:sym typeface="Schibsted Grotesk"/>
            </a:endParaRPr>
          </a:p>
        </p:txBody>
      </p:sp>
      <p:sp>
        <p:nvSpPr>
          <p:cNvPr id="44" name="Google Shape;44;p4"/>
          <p:cNvSpPr txBox="1"/>
          <p:nvPr/>
        </p:nvSpPr>
        <p:spPr>
          <a:xfrm>
            <a:off x="551250" y="1711927"/>
            <a:ext cx="2015100" cy="47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Merriweather Light"/>
                <a:ea typeface="Merriweather Light"/>
                <a:cs typeface="Merriweather Light"/>
                <a:sym typeface="Merriweather Light"/>
              </a:rPr>
              <a:t>8034 NE Loop 410 </a:t>
            </a:r>
            <a:endParaRPr sz="1600">
              <a:solidFill>
                <a:schemeClr val="dk1"/>
              </a:solidFill>
              <a:latin typeface="Merriweather Light"/>
              <a:ea typeface="Merriweather Light"/>
              <a:cs typeface="Merriweather Light"/>
              <a:sym typeface="Merriweather Light"/>
            </a:endParaRPr>
          </a:p>
          <a:p>
            <a:pPr indent="0" lvl="0" marL="0" rtl="0" algn="l">
              <a:spcBef>
                <a:spcPts val="500"/>
              </a:spcBef>
              <a:spcAft>
                <a:spcPts val="0"/>
              </a:spcAft>
              <a:buNone/>
            </a:pPr>
            <a:r>
              <a:rPr i="1" lang="en" sz="1100">
                <a:solidFill>
                  <a:schemeClr val="dk2"/>
                </a:solidFill>
                <a:latin typeface="Merriweather Light"/>
                <a:ea typeface="Merriweather Light"/>
                <a:cs typeface="Merriweather Light"/>
                <a:sym typeface="Merriweather Light"/>
              </a:rPr>
              <a:t>Exited July 2025</a:t>
            </a:r>
            <a:endParaRPr i="1" sz="1100">
              <a:solidFill>
                <a:schemeClr val="dk2"/>
              </a:solidFill>
              <a:latin typeface="Merriweather Light"/>
              <a:ea typeface="Merriweather Light"/>
              <a:cs typeface="Merriweather Light"/>
              <a:sym typeface="Merriweather Light"/>
            </a:endParaRPr>
          </a:p>
        </p:txBody>
      </p:sp>
      <p:cxnSp>
        <p:nvCxnSpPr>
          <p:cNvPr id="45" name="Google Shape;45;p4"/>
          <p:cNvCxnSpPr/>
          <p:nvPr/>
        </p:nvCxnSpPr>
        <p:spPr>
          <a:xfrm>
            <a:off x="533900" y="1592327"/>
            <a:ext cx="6711900" cy="0"/>
          </a:xfrm>
          <a:prstGeom prst="straightConnector1">
            <a:avLst/>
          </a:prstGeom>
          <a:noFill/>
          <a:ln cap="flat" cmpd="sng" w="9525">
            <a:solidFill>
              <a:schemeClr val="dk1"/>
            </a:solidFill>
            <a:prstDash val="solid"/>
            <a:round/>
            <a:headEnd len="med" w="med" type="none"/>
            <a:tailEnd len="med" w="med" type="none"/>
          </a:ln>
        </p:spPr>
      </p:cxnSp>
      <p:pic>
        <p:nvPicPr>
          <p:cNvPr id="46" name="Google Shape;46;p4"/>
          <p:cNvPicPr preferRelativeResize="0"/>
          <p:nvPr/>
        </p:nvPicPr>
        <p:blipFill rotWithShape="1">
          <a:blip r:embed="rId4">
            <a:alphaModFix/>
          </a:blip>
          <a:srcRect b="7150" l="1768" r="27779" t="24296"/>
          <a:stretch/>
        </p:blipFill>
        <p:spPr>
          <a:xfrm>
            <a:off x="4649975" y="3832075"/>
            <a:ext cx="2594100" cy="1682100"/>
          </a:xfrm>
          <a:prstGeom prst="roundRect">
            <a:avLst>
              <a:gd fmla="val 4043" name="adj"/>
            </a:avLst>
          </a:prstGeom>
          <a:noFill/>
          <a:ln>
            <a:noFill/>
          </a:ln>
        </p:spPr>
      </p:pic>
      <p:sp>
        <p:nvSpPr>
          <p:cNvPr id="47" name="Google Shape;47;p4"/>
          <p:cNvSpPr txBox="1"/>
          <p:nvPr/>
        </p:nvSpPr>
        <p:spPr>
          <a:xfrm>
            <a:off x="528050" y="4498502"/>
            <a:ext cx="2102700" cy="1015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Address</a:t>
            </a:r>
            <a:endParaRPr sz="10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8034 NE Loop 410,</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San Antonio TX</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Purchase date</a:t>
            </a:r>
            <a:endParaRPr sz="10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08/29/24</a:t>
            </a:r>
            <a:endParaRPr sz="1000">
              <a:solidFill>
                <a:schemeClr val="dk1"/>
              </a:solidFill>
              <a:latin typeface="Schibsted Grotesk"/>
              <a:ea typeface="Schibsted Grotesk"/>
              <a:cs typeface="Schibsted Grotesk"/>
              <a:sym typeface="Schibsted Grotesk"/>
            </a:endParaRPr>
          </a:p>
        </p:txBody>
      </p:sp>
      <p:sp>
        <p:nvSpPr>
          <p:cNvPr id="48" name="Google Shape;48;p4"/>
          <p:cNvSpPr txBox="1"/>
          <p:nvPr/>
        </p:nvSpPr>
        <p:spPr>
          <a:xfrm>
            <a:off x="2763125" y="3821102"/>
            <a:ext cx="2277300" cy="1693200"/>
          </a:xfrm>
          <a:prstGeom prst="rect">
            <a:avLst/>
          </a:prstGeom>
          <a:noFill/>
          <a:ln>
            <a:noFill/>
          </a:ln>
        </p:spPr>
        <p:txBody>
          <a:bodyPr anchorCtr="0" anchor="b" bIns="0" lIns="0" spcFirstLastPara="1" rIns="0" wrap="square" tIns="0">
            <a:spAutoFit/>
          </a:bodyPr>
          <a:lstStyle/>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Purchase price</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$57,594,858</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Size</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606,911 sq ft</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Number of Units</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20</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Year Built</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2005/2014</a:t>
            </a:r>
            <a:endParaRPr sz="1000">
              <a:solidFill>
                <a:schemeClr val="dk1"/>
              </a:solidFill>
              <a:latin typeface="Schibsted Grotesk"/>
              <a:ea typeface="Schibsted Grotesk"/>
              <a:cs typeface="Schibsted Grotesk"/>
              <a:sym typeface="Schibsted Grotesk"/>
            </a:endParaRPr>
          </a:p>
        </p:txBody>
      </p:sp>
      <p:sp>
        <p:nvSpPr>
          <p:cNvPr id="49" name="Google Shape;49;p4"/>
          <p:cNvSpPr txBox="1"/>
          <p:nvPr/>
        </p:nvSpPr>
        <p:spPr>
          <a:xfrm>
            <a:off x="549800" y="3832077"/>
            <a:ext cx="20151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Merriweather Light"/>
                <a:ea typeface="Merriweather Light"/>
                <a:cs typeface="Merriweather Light"/>
                <a:sym typeface="Merriweather Light"/>
              </a:rPr>
              <a:t>1950 </a:t>
            </a:r>
            <a:r>
              <a:rPr lang="en" sz="1600">
                <a:solidFill>
                  <a:schemeClr val="dk1"/>
                </a:solidFill>
                <a:latin typeface="Merriweather Light"/>
                <a:ea typeface="Merriweather Light"/>
                <a:cs typeface="Merriweather Light"/>
                <a:sym typeface="Merriweather Light"/>
              </a:rPr>
              <a:t>Starpoint</a:t>
            </a:r>
            <a:endParaRPr i="1" sz="1100">
              <a:solidFill>
                <a:schemeClr val="dk2"/>
              </a:solidFill>
              <a:latin typeface="Merriweather Light"/>
              <a:ea typeface="Merriweather Light"/>
              <a:cs typeface="Merriweather Light"/>
              <a:sym typeface="Merriweather Light"/>
            </a:endParaRPr>
          </a:p>
        </p:txBody>
      </p:sp>
      <p:cxnSp>
        <p:nvCxnSpPr>
          <p:cNvPr id="50" name="Google Shape;50;p4"/>
          <p:cNvCxnSpPr/>
          <p:nvPr/>
        </p:nvCxnSpPr>
        <p:spPr>
          <a:xfrm>
            <a:off x="532450" y="3712477"/>
            <a:ext cx="6711900" cy="0"/>
          </a:xfrm>
          <a:prstGeom prst="straightConnector1">
            <a:avLst/>
          </a:prstGeom>
          <a:noFill/>
          <a:ln cap="flat" cmpd="sng" w="9525">
            <a:solidFill>
              <a:schemeClr val="dk1"/>
            </a:solidFill>
            <a:prstDash val="solid"/>
            <a:round/>
            <a:headEnd len="med" w="med" type="none"/>
            <a:tailEnd len="med" w="med" type="none"/>
          </a:ln>
        </p:spPr>
      </p:cxnSp>
      <p:pic>
        <p:nvPicPr>
          <p:cNvPr id="51" name="Google Shape;51;p4"/>
          <p:cNvPicPr preferRelativeResize="0"/>
          <p:nvPr/>
        </p:nvPicPr>
        <p:blipFill rotWithShape="1">
          <a:blip r:embed="rId4">
            <a:alphaModFix/>
          </a:blip>
          <a:srcRect b="7150" l="1768" r="27779" t="24296"/>
          <a:stretch/>
        </p:blipFill>
        <p:spPr>
          <a:xfrm>
            <a:off x="4649975" y="5952213"/>
            <a:ext cx="2594100" cy="1682100"/>
          </a:xfrm>
          <a:prstGeom prst="roundRect">
            <a:avLst>
              <a:gd fmla="val 4043" name="adj"/>
            </a:avLst>
          </a:prstGeom>
          <a:noFill/>
          <a:ln>
            <a:noFill/>
          </a:ln>
        </p:spPr>
      </p:pic>
      <p:sp>
        <p:nvSpPr>
          <p:cNvPr id="52" name="Google Shape;52;p4"/>
          <p:cNvSpPr txBox="1"/>
          <p:nvPr/>
        </p:nvSpPr>
        <p:spPr>
          <a:xfrm>
            <a:off x="528050" y="6618640"/>
            <a:ext cx="2102700" cy="1015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Address</a:t>
            </a:r>
            <a:endParaRPr sz="10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8034 NE Loop 410,</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San Antonio TX</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Purchase date</a:t>
            </a:r>
            <a:endParaRPr sz="10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08/29/24</a:t>
            </a:r>
            <a:endParaRPr sz="1000">
              <a:solidFill>
                <a:schemeClr val="dk1"/>
              </a:solidFill>
              <a:latin typeface="Schibsted Grotesk"/>
              <a:ea typeface="Schibsted Grotesk"/>
              <a:cs typeface="Schibsted Grotesk"/>
              <a:sym typeface="Schibsted Grotesk"/>
            </a:endParaRPr>
          </a:p>
        </p:txBody>
      </p:sp>
      <p:sp>
        <p:nvSpPr>
          <p:cNvPr id="53" name="Google Shape;53;p4"/>
          <p:cNvSpPr txBox="1"/>
          <p:nvPr/>
        </p:nvSpPr>
        <p:spPr>
          <a:xfrm>
            <a:off x="2763125" y="5941240"/>
            <a:ext cx="2277300" cy="1693200"/>
          </a:xfrm>
          <a:prstGeom prst="rect">
            <a:avLst/>
          </a:prstGeom>
          <a:noFill/>
          <a:ln>
            <a:noFill/>
          </a:ln>
        </p:spPr>
        <p:txBody>
          <a:bodyPr anchorCtr="0" anchor="b" bIns="0" lIns="0" spcFirstLastPara="1" rIns="0" wrap="square" tIns="0">
            <a:spAutoFit/>
          </a:bodyPr>
          <a:lstStyle/>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Purchase price</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$57,594,858</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Size</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606,911 sq ft</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Number of Units</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20</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000">
                <a:solidFill>
                  <a:schemeClr val="dk1"/>
                </a:solidFill>
                <a:latin typeface="Schibsted Grotesk SemiBold"/>
                <a:ea typeface="Schibsted Grotesk SemiBold"/>
                <a:cs typeface="Schibsted Grotesk SemiBold"/>
                <a:sym typeface="Schibsted Grotesk SemiBold"/>
              </a:rPr>
              <a:t>Year Built</a:t>
            </a:r>
            <a:endParaRPr sz="10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000">
                <a:solidFill>
                  <a:schemeClr val="dk1"/>
                </a:solidFill>
                <a:latin typeface="Schibsted Grotesk"/>
                <a:ea typeface="Schibsted Grotesk"/>
                <a:cs typeface="Schibsted Grotesk"/>
                <a:sym typeface="Schibsted Grotesk"/>
              </a:rPr>
              <a:t>2005/2014</a:t>
            </a:r>
            <a:endParaRPr sz="1000">
              <a:solidFill>
                <a:schemeClr val="dk1"/>
              </a:solidFill>
              <a:latin typeface="Schibsted Grotesk"/>
              <a:ea typeface="Schibsted Grotesk"/>
              <a:cs typeface="Schibsted Grotesk"/>
              <a:sym typeface="Schibsted Grotesk"/>
            </a:endParaRPr>
          </a:p>
        </p:txBody>
      </p:sp>
      <p:sp>
        <p:nvSpPr>
          <p:cNvPr id="54" name="Google Shape;54;p4"/>
          <p:cNvSpPr txBox="1"/>
          <p:nvPr/>
        </p:nvSpPr>
        <p:spPr>
          <a:xfrm>
            <a:off x="549800" y="5952215"/>
            <a:ext cx="20151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Merriweather Light"/>
                <a:ea typeface="Merriweather Light"/>
                <a:cs typeface="Merriweather Light"/>
                <a:sym typeface="Merriweather Light"/>
              </a:rPr>
              <a:t>11618 </a:t>
            </a:r>
            <a:r>
              <a:rPr lang="en" sz="1600">
                <a:solidFill>
                  <a:schemeClr val="dk1"/>
                </a:solidFill>
                <a:latin typeface="Merriweather Light"/>
                <a:ea typeface="Merriweather Light"/>
                <a:cs typeface="Merriweather Light"/>
                <a:sym typeface="Merriweather Light"/>
              </a:rPr>
              <a:t>Nacogdoches</a:t>
            </a:r>
            <a:endParaRPr i="1" sz="1100">
              <a:solidFill>
                <a:schemeClr val="dk2"/>
              </a:solidFill>
              <a:latin typeface="Merriweather Light"/>
              <a:ea typeface="Merriweather Light"/>
              <a:cs typeface="Merriweather Light"/>
              <a:sym typeface="Merriweather Light"/>
            </a:endParaRPr>
          </a:p>
        </p:txBody>
      </p:sp>
      <p:cxnSp>
        <p:nvCxnSpPr>
          <p:cNvPr id="55" name="Google Shape;55;p4"/>
          <p:cNvCxnSpPr/>
          <p:nvPr/>
        </p:nvCxnSpPr>
        <p:spPr>
          <a:xfrm>
            <a:off x="532450" y="5832615"/>
            <a:ext cx="6711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orient="horz" pos="2658">
          <p15:clr>
            <a:srgbClr val="E46962"/>
          </p15:clr>
        </p15:guide>
        <p15:guide id="2" orient="horz" pos="3614">
          <p15:clr>
            <a:srgbClr val="E46962"/>
          </p15:clr>
        </p15:guide>
        <p15:guide id="3" orient="horz" pos="888">
          <p15:clr>
            <a:srgbClr val="E46962"/>
          </p15:clr>
        </p15:guide>
        <p15:guide id="4" orient="horz" pos="3981">
          <p15:clr>
            <a:srgbClr val="E46962"/>
          </p15:clr>
        </p15:guide>
        <p15:guide id="5" orient="horz" pos="5179">
          <p15:clr>
            <a:srgbClr val="8E7CC3"/>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emplate - 3 Properties">
  <p:cSld name="CUSTOM_2_1_1">
    <p:spTree>
      <p:nvGrpSpPr>
        <p:cNvPr id="56" name="Shape 56"/>
        <p:cNvGrpSpPr/>
        <p:nvPr/>
      </p:nvGrpSpPr>
      <p:grpSpPr>
        <a:xfrm>
          <a:off x="0" y="0"/>
          <a:ext cx="0" cy="0"/>
          <a:chOff x="0" y="0"/>
          <a:chExt cx="0" cy="0"/>
        </a:xfrm>
      </p:grpSpPr>
      <p:sp>
        <p:nvSpPr>
          <p:cNvPr id="57" name="Google Shape;57;p5"/>
          <p:cNvSpPr/>
          <p:nvPr/>
        </p:nvSpPr>
        <p:spPr>
          <a:xfrm>
            <a:off x="304800" y="759475"/>
            <a:ext cx="7170000" cy="7117800"/>
          </a:xfrm>
          <a:prstGeom prst="roundRect">
            <a:avLst>
              <a:gd fmla="val 160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pic>
        <p:nvPicPr>
          <p:cNvPr id="58" name="Google Shape;58;p5" title="HC-Logo-Black@720w.png"/>
          <p:cNvPicPr preferRelativeResize="0"/>
          <p:nvPr/>
        </p:nvPicPr>
        <p:blipFill>
          <a:blip r:embed="rId2">
            <a:alphaModFix/>
          </a:blip>
          <a:stretch>
            <a:fillRect/>
          </a:stretch>
        </p:blipFill>
        <p:spPr>
          <a:xfrm>
            <a:off x="304800" y="291002"/>
            <a:ext cx="2652750" cy="206325"/>
          </a:xfrm>
          <a:prstGeom prst="rect">
            <a:avLst/>
          </a:prstGeom>
          <a:noFill/>
          <a:ln>
            <a:noFill/>
          </a:ln>
        </p:spPr>
      </p:pic>
      <p:sp>
        <p:nvSpPr>
          <p:cNvPr id="59" name="Google Shape;59;p5"/>
          <p:cNvSpPr txBox="1"/>
          <p:nvPr/>
        </p:nvSpPr>
        <p:spPr>
          <a:xfrm>
            <a:off x="4965598" y="987495"/>
            <a:ext cx="2277300" cy="415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900">
                <a:solidFill>
                  <a:schemeClr val="dk2"/>
                </a:solidFill>
                <a:latin typeface="Schibsted Grotesk SemiBold"/>
                <a:ea typeface="Schibsted Grotesk SemiBold"/>
                <a:cs typeface="Schibsted Grotesk SemiBold"/>
                <a:sym typeface="Schibsted Grotesk SemiBold"/>
              </a:rPr>
              <a:t>Harbor Capital</a:t>
            </a:r>
            <a:endParaRPr sz="900">
              <a:solidFill>
                <a:schemeClr val="dk2"/>
              </a:solidFill>
              <a:latin typeface="Schibsted Grotesk SemiBold"/>
              <a:ea typeface="Schibsted Grotesk SemiBold"/>
              <a:cs typeface="Schibsted Grotesk SemiBold"/>
              <a:sym typeface="Schibsted Grotesk SemiBold"/>
            </a:endParaRPr>
          </a:p>
          <a:p>
            <a:pPr indent="0" lvl="0" marL="0" rtl="0" algn="r">
              <a:spcBef>
                <a:spcPts val="0"/>
              </a:spcBef>
              <a:spcAft>
                <a:spcPts val="0"/>
              </a:spcAft>
              <a:buNone/>
            </a:pPr>
            <a:r>
              <a:rPr lang="en" sz="900">
                <a:solidFill>
                  <a:schemeClr val="dk2"/>
                </a:solidFill>
                <a:latin typeface="Schibsted Grotesk"/>
                <a:ea typeface="Schibsted Grotesk"/>
                <a:cs typeface="Schibsted Grotesk"/>
                <a:sym typeface="Schibsted Grotesk"/>
              </a:rPr>
              <a:t>4029 Guadalupe Street </a:t>
            </a:r>
            <a:endParaRPr sz="900">
              <a:solidFill>
                <a:schemeClr val="dk2"/>
              </a:solidFill>
              <a:latin typeface="Schibsted Grotesk"/>
              <a:ea typeface="Schibsted Grotesk"/>
              <a:cs typeface="Schibsted Grotesk"/>
              <a:sym typeface="Schibsted Grotesk"/>
            </a:endParaRPr>
          </a:p>
          <a:p>
            <a:pPr indent="0" lvl="0" marL="0" rtl="0" algn="r">
              <a:spcBef>
                <a:spcPts val="0"/>
              </a:spcBef>
              <a:spcAft>
                <a:spcPts val="0"/>
              </a:spcAft>
              <a:buNone/>
            </a:pPr>
            <a:r>
              <a:rPr lang="en" sz="900">
                <a:solidFill>
                  <a:schemeClr val="dk2"/>
                </a:solidFill>
                <a:latin typeface="Schibsted Grotesk"/>
                <a:ea typeface="Schibsted Grotesk"/>
                <a:cs typeface="Schibsted Grotesk"/>
                <a:sym typeface="Schibsted Grotesk"/>
              </a:rPr>
              <a:t>Austin, TX 78751</a:t>
            </a:r>
            <a:endParaRPr sz="1100">
              <a:solidFill>
                <a:schemeClr val="dk2"/>
              </a:solidFill>
            </a:endParaRPr>
          </a:p>
        </p:txBody>
      </p:sp>
      <p:sp>
        <p:nvSpPr>
          <p:cNvPr id="60" name="Google Shape;60;p5"/>
          <p:cNvSpPr txBox="1"/>
          <p:nvPr/>
        </p:nvSpPr>
        <p:spPr>
          <a:xfrm>
            <a:off x="5197498" y="301800"/>
            <a:ext cx="2277300" cy="153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i="1" lang="en" sz="1000">
                <a:solidFill>
                  <a:schemeClr val="dk2"/>
                </a:solidFill>
                <a:latin typeface="Schibsted Grotesk"/>
                <a:ea typeface="Schibsted Grotesk"/>
                <a:cs typeface="Schibsted Grotesk"/>
                <a:sym typeface="Schibsted Grotesk"/>
              </a:rPr>
              <a:t>Confidential</a:t>
            </a:r>
            <a:endParaRPr i="1" sz="1000">
              <a:solidFill>
                <a:schemeClr val="dk2"/>
              </a:solidFill>
              <a:latin typeface="Schibsted Grotesk"/>
              <a:ea typeface="Schibsted Grotesk"/>
              <a:cs typeface="Schibsted Grotesk"/>
              <a:sym typeface="Schibsted Grotesk"/>
            </a:endParaRPr>
          </a:p>
        </p:txBody>
      </p:sp>
      <p:sp>
        <p:nvSpPr>
          <p:cNvPr id="61" name="Google Shape;61;p5"/>
          <p:cNvSpPr txBox="1"/>
          <p:nvPr>
            <p:ph idx="12" type="sldNum"/>
          </p:nvPr>
        </p:nvSpPr>
        <p:spPr>
          <a:xfrm>
            <a:off x="7135793" y="9616501"/>
            <a:ext cx="334800" cy="153900"/>
          </a:xfrm>
          <a:prstGeom prst="rect">
            <a:avLst/>
          </a:prstGeom>
          <a:noFill/>
          <a:ln>
            <a:noFill/>
          </a:ln>
        </p:spPr>
        <p:txBody>
          <a:bodyPr anchorCtr="0" anchor="ctr" bIns="0" lIns="0" spcFirstLastPara="1" rIns="0" wrap="square" tIns="0">
            <a:spAutoFit/>
          </a:bodyPr>
          <a:lstStyle>
            <a:lvl1pPr lvl="0" algn="r">
              <a:buNone/>
              <a:defRPr sz="1000">
                <a:solidFill>
                  <a:schemeClr val="dk2"/>
                </a:solidFill>
                <a:latin typeface="Schibsted Grotesk"/>
                <a:ea typeface="Schibsted Grotesk"/>
                <a:cs typeface="Schibsted Grotesk"/>
                <a:sym typeface="Schibsted Grotesk"/>
              </a:defRPr>
            </a:lvl1pPr>
            <a:lvl2pPr lvl="1" algn="r">
              <a:buNone/>
              <a:defRPr sz="1000">
                <a:solidFill>
                  <a:schemeClr val="dk2"/>
                </a:solidFill>
                <a:latin typeface="Schibsted Grotesk"/>
                <a:ea typeface="Schibsted Grotesk"/>
                <a:cs typeface="Schibsted Grotesk"/>
                <a:sym typeface="Schibsted Grotesk"/>
              </a:defRPr>
            </a:lvl2pPr>
            <a:lvl3pPr lvl="2" algn="r">
              <a:buNone/>
              <a:defRPr sz="1000">
                <a:solidFill>
                  <a:schemeClr val="dk2"/>
                </a:solidFill>
                <a:latin typeface="Schibsted Grotesk"/>
                <a:ea typeface="Schibsted Grotesk"/>
                <a:cs typeface="Schibsted Grotesk"/>
                <a:sym typeface="Schibsted Grotesk"/>
              </a:defRPr>
            </a:lvl3pPr>
            <a:lvl4pPr lvl="3" algn="r">
              <a:buNone/>
              <a:defRPr sz="1000">
                <a:solidFill>
                  <a:schemeClr val="dk2"/>
                </a:solidFill>
                <a:latin typeface="Schibsted Grotesk"/>
                <a:ea typeface="Schibsted Grotesk"/>
                <a:cs typeface="Schibsted Grotesk"/>
                <a:sym typeface="Schibsted Grotesk"/>
              </a:defRPr>
            </a:lvl4pPr>
            <a:lvl5pPr lvl="4" algn="r">
              <a:buNone/>
              <a:defRPr sz="1000">
                <a:solidFill>
                  <a:schemeClr val="dk2"/>
                </a:solidFill>
                <a:latin typeface="Schibsted Grotesk"/>
                <a:ea typeface="Schibsted Grotesk"/>
                <a:cs typeface="Schibsted Grotesk"/>
                <a:sym typeface="Schibsted Grotesk"/>
              </a:defRPr>
            </a:lvl5pPr>
            <a:lvl6pPr lvl="5" algn="r">
              <a:buNone/>
              <a:defRPr sz="1000">
                <a:solidFill>
                  <a:schemeClr val="dk2"/>
                </a:solidFill>
                <a:latin typeface="Schibsted Grotesk"/>
                <a:ea typeface="Schibsted Grotesk"/>
                <a:cs typeface="Schibsted Grotesk"/>
                <a:sym typeface="Schibsted Grotesk"/>
              </a:defRPr>
            </a:lvl6pPr>
            <a:lvl7pPr lvl="6" algn="r">
              <a:buNone/>
              <a:defRPr sz="1000">
                <a:solidFill>
                  <a:schemeClr val="dk2"/>
                </a:solidFill>
                <a:latin typeface="Schibsted Grotesk"/>
                <a:ea typeface="Schibsted Grotesk"/>
                <a:cs typeface="Schibsted Grotesk"/>
                <a:sym typeface="Schibsted Grotesk"/>
              </a:defRPr>
            </a:lvl7pPr>
            <a:lvl8pPr lvl="7" algn="r">
              <a:buNone/>
              <a:defRPr sz="1000">
                <a:solidFill>
                  <a:schemeClr val="dk2"/>
                </a:solidFill>
                <a:latin typeface="Schibsted Grotesk"/>
                <a:ea typeface="Schibsted Grotesk"/>
                <a:cs typeface="Schibsted Grotesk"/>
                <a:sym typeface="Schibsted Grotesk"/>
              </a:defRPr>
            </a:lvl8pPr>
            <a:lvl9pPr lvl="8" algn="r">
              <a:buNone/>
              <a:defRPr sz="1000">
                <a:solidFill>
                  <a:schemeClr val="dk2"/>
                </a:solidFill>
                <a:latin typeface="Schibsted Grotesk"/>
                <a:ea typeface="Schibsted Grotesk"/>
                <a:cs typeface="Schibsted Grotesk"/>
                <a:sym typeface="Schibsted Grotesk"/>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5"/>
          <p:cNvSpPr/>
          <p:nvPr/>
        </p:nvSpPr>
        <p:spPr>
          <a:xfrm rot="10800000">
            <a:off x="301800" y="0"/>
            <a:ext cx="2660400" cy="693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pic>
        <p:nvPicPr>
          <p:cNvPr id="63" name="Google Shape;63;p5" title="HC-Logo-Icon-Charcoal@720w.png"/>
          <p:cNvPicPr preferRelativeResize="0"/>
          <p:nvPr/>
        </p:nvPicPr>
        <p:blipFill>
          <a:blip r:embed="rId3">
            <a:alphaModFix amt="40000"/>
          </a:blip>
          <a:stretch>
            <a:fillRect/>
          </a:stretch>
        </p:blipFill>
        <p:spPr>
          <a:xfrm>
            <a:off x="301800" y="9569190"/>
            <a:ext cx="256032" cy="192024"/>
          </a:xfrm>
          <a:prstGeom prst="rect">
            <a:avLst/>
          </a:prstGeom>
          <a:noFill/>
          <a:ln>
            <a:noFill/>
          </a:ln>
        </p:spPr>
      </p:pic>
      <p:sp>
        <p:nvSpPr>
          <p:cNvPr id="64" name="Google Shape;64;p5"/>
          <p:cNvSpPr txBox="1"/>
          <p:nvPr/>
        </p:nvSpPr>
        <p:spPr>
          <a:xfrm>
            <a:off x="679467" y="9578056"/>
            <a:ext cx="1887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2"/>
                </a:solidFill>
                <a:latin typeface="Source Code Pro"/>
                <a:ea typeface="Source Code Pro"/>
                <a:cs typeface="Source Code Pro"/>
                <a:sym typeface="Source Code Pro"/>
              </a:rPr>
              <a:t>Made in Texas</a:t>
            </a:r>
            <a:endParaRPr sz="1000">
              <a:solidFill>
                <a:schemeClr val="dk2"/>
              </a:solidFill>
              <a:latin typeface="Source Code Pro"/>
              <a:ea typeface="Source Code Pro"/>
              <a:cs typeface="Source Code Pro"/>
              <a:sym typeface="Source Code Pro"/>
            </a:endParaRPr>
          </a:p>
        </p:txBody>
      </p:sp>
      <p:cxnSp>
        <p:nvCxnSpPr>
          <p:cNvPr id="65" name="Google Shape;65;p5"/>
          <p:cNvCxnSpPr/>
          <p:nvPr/>
        </p:nvCxnSpPr>
        <p:spPr>
          <a:xfrm>
            <a:off x="533900" y="1592327"/>
            <a:ext cx="6711900" cy="0"/>
          </a:xfrm>
          <a:prstGeom prst="straightConnector1">
            <a:avLst/>
          </a:prstGeom>
          <a:noFill/>
          <a:ln cap="flat" cmpd="sng" w="9525">
            <a:solidFill>
              <a:schemeClr val="dk1"/>
            </a:solidFill>
            <a:prstDash val="solid"/>
            <a:round/>
            <a:headEnd len="med" w="med" type="none"/>
            <a:tailEnd len="med" w="med" type="none"/>
          </a:ln>
        </p:spPr>
      </p:cxnSp>
      <p:cxnSp>
        <p:nvCxnSpPr>
          <p:cNvPr id="66" name="Google Shape;66;p5"/>
          <p:cNvCxnSpPr/>
          <p:nvPr/>
        </p:nvCxnSpPr>
        <p:spPr>
          <a:xfrm>
            <a:off x="532450" y="3712477"/>
            <a:ext cx="6711900" cy="0"/>
          </a:xfrm>
          <a:prstGeom prst="straightConnector1">
            <a:avLst/>
          </a:prstGeom>
          <a:noFill/>
          <a:ln cap="flat" cmpd="sng" w="9525">
            <a:solidFill>
              <a:schemeClr val="dk1"/>
            </a:solidFill>
            <a:prstDash val="solid"/>
            <a:round/>
            <a:headEnd len="med" w="med" type="none"/>
            <a:tailEnd len="med" w="med" type="none"/>
          </a:ln>
        </p:spPr>
      </p:cxnSp>
      <p:cxnSp>
        <p:nvCxnSpPr>
          <p:cNvPr id="67" name="Google Shape;67;p5"/>
          <p:cNvCxnSpPr/>
          <p:nvPr/>
        </p:nvCxnSpPr>
        <p:spPr>
          <a:xfrm>
            <a:off x="532450" y="5832615"/>
            <a:ext cx="6711900" cy="0"/>
          </a:xfrm>
          <a:prstGeom prst="straightConnector1">
            <a:avLst/>
          </a:prstGeom>
          <a:noFill/>
          <a:ln cap="flat" cmpd="sng" w="9525">
            <a:solidFill>
              <a:schemeClr val="dk1"/>
            </a:solidFill>
            <a:prstDash val="solid"/>
            <a:round/>
            <a:headEnd len="med" w="med" type="none"/>
            <a:tailEnd len="med" w="med" type="none"/>
          </a:ln>
        </p:spPr>
      </p:cxnSp>
      <p:sp>
        <p:nvSpPr>
          <p:cNvPr id="68" name="Google Shape;68;p5"/>
          <p:cNvSpPr/>
          <p:nvPr>
            <p:ph idx="2" type="pic"/>
          </p:nvPr>
        </p:nvSpPr>
        <p:spPr>
          <a:xfrm>
            <a:off x="4651425" y="1711925"/>
            <a:ext cx="2594100" cy="1682100"/>
          </a:xfrm>
          <a:prstGeom prst="roundRect">
            <a:avLst>
              <a:gd fmla="val 3020" name="adj"/>
            </a:avLst>
          </a:prstGeom>
          <a:noFill/>
          <a:ln>
            <a:noFill/>
          </a:ln>
        </p:spPr>
      </p:sp>
      <p:sp>
        <p:nvSpPr>
          <p:cNvPr id="69" name="Google Shape;69;p5"/>
          <p:cNvSpPr/>
          <p:nvPr>
            <p:ph idx="3" type="pic"/>
          </p:nvPr>
        </p:nvSpPr>
        <p:spPr>
          <a:xfrm>
            <a:off x="4651425" y="3832075"/>
            <a:ext cx="2594100" cy="1682100"/>
          </a:xfrm>
          <a:prstGeom prst="roundRect">
            <a:avLst>
              <a:gd fmla="val 3020" name="adj"/>
            </a:avLst>
          </a:prstGeom>
          <a:noFill/>
          <a:ln>
            <a:noFill/>
          </a:ln>
        </p:spPr>
      </p:sp>
      <p:sp>
        <p:nvSpPr>
          <p:cNvPr id="70" name="Google Shape;70;p5"/>
          <p:cNvSpPr/>
          <p:nvPr>
            <p:ph idx="4" type="pic"/>
          </p:nvPr>
        </p:nvSpPr>
        <p:spPr>
          <a:xfrm>
            <a:off x="4651425" y="5952213"/>
            <a:ext cx="2594100" cy="1682100"/>
          </a:xfrm>
          <a:prstGeom prst="roundRect">
            <a:avLst>
              <a:gd fmla="val 3020" name="adj"/>
            </a:avLst>
          </a:prstGeom>
          <a:noFill/>
          <a:ln>
            <a:noFill/>
          </a:ln>
        </p:spPr>
      </p:sp>
    </p:spTree>
  </p:cSld>
  <p:clrMapOvr>
    <a:masterClrMapping/>
  </p:clrMapOvr>
  <p:extLst>
    <p:ext uri="{DCECCB84-F9BA-43D5-87BE-67443E8EF086}">
      <p15:sldGuideLst>
        <p15:guide id="1" orient="horz" pos="2658">
          <p15:clr>
            <a:srgbClr val="E46962"/>
          </p15:clr>
        </p15:guide>
        <p15:guide id="2" orient="horz" pos="3614">
          <p15:clr>
            <a:srgbClr val="E46962"/>
          </p15:clr>
        </p15:guide>
        <p15:guide id="3" orient="horz" pos="888">
          <p15:clr>
            <a:srgbClr val="E46962"/>
          </p15:clr>
        </p15:guide>
        <p15:guide id="4" orient="horz" pos="3981">
          <p15:clr>
            <a:srgbClr val="E46962"/>
          </p15:clr>
        </p15:guide>
        <p15:guide id="5" orient="horz" pos="5179">
          <p15:clr>
            <a:srgbClr val="8E7CC3"/>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emplate - 2 Properties">
  <p:cSld name="CUSTOM_2_1_1_1">
    <p:spTree>
      <p:nvGrpSpPr>
        <p:cNvPr id="71" name="Shape 71"/>
        <p:cNvGrpSpPr/>
        <p:nvPr/>
      </p:nvGrpSpPr>
      <p:grpSpPr>
        <a:xfrm>
          <a:off x="0" y="0"/>
          <a:ext cx="0" cy="0"/>
          <a:chOff x="0" y="0"/>
          <a:chExt cx="0" cy="0"/>
        </a:xfrm>
      </p:grpSpPr>
      <p:sp>
        <p:nvSpPr>
          <p:cNvPr id="72" name="Google Shape;72;p6"/>
          <p:cNvSpPr/>
          <p:nvPr/>
        </p:nvSpPr>
        <p:spPr>
          <a:xfrm>
            <a:off x="304800" y="759475"/>
            <a:ext cx="7170000" cy="4978200"/>
          </a:xfrm>
          <a:prstGeom prst="roundRect">
            <a:avLst>
              <a:gd fmla="val 2204"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pic>
        <p:nvPicPr>
          <p:cNvPr id="73" name="Google Shape;73;p6" title="HC-Logo-Black@720w.png"/>
          <p:cNvPicPr preferRelativeResize="0"/>
          <p:nvPr/>
        </p:nvPicPr>
        <p:blipFill>
          <a:blip r:embed="rId2">
            <a:alphaModFix/>
          </a:blip>
          <a:stretch>
            <a:fillRect/>
          </a:stretch>
        </p:blipFill>
        <p:spPr>
          <a:xfrm>
            <a:off x="304800" y="291002"/>
            <a:ext cx="2652750" cy="206325"/>
          </a:xfrm>
          <a:prstGeom prst="rect">
            <a:avLst/>
          </a:prstGeom>
          <a:noFill/>
          <a:ln>
            <a:noFill/>
          </a:ln>
        </p:spPr>
      </p:pic>
      <p:sp>
        <p:nvSpPr>
          <p:cNvPr id="74" name="Google Shape;74;p6"/>
          <p:cNvSpPr txBox="1"/>
          <p:nvPr/>
        </p:nvSpPr>
        <p:spPr>
          <a:xfrm>
            <a:off x="4965598" y="987495"/>
            <a:ext cx="2277300" cy="4155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900">
                <a:solidFill>
                  <a:schemeClr val="dk2"/>
                </a:solidFill>
                <a:latin typeface="Schibsted Grotesk SemiBold"/>
                <a:ea typeface="Schibsted Grotesk SemiBold"/>
                <a:cs typeface="Schibsted Grotesk SemiBold"/>
                <a:sym typeface="Schibsted Grotesk SemiBold"/>
              </a:rPr>
              <a:t>Harbor Capital</a:t>
            </a:r>
            <a:endParaRPr sz="900">
              <a:solidFill>
                <a:schemeClr val="dk2"/>
              </a:solidFill>
              <a:latin typeface="Schibsted Grotesk SemiBold"/>
              <a:ea typeface="Schibsted Grotesk SemiBold"/>
              <a:cs typeface="Schibsted Grotesk SemiBold"/>
              <a:sym typeface="Schibsted Grotesk SemiBold"/>
            </a:endParaRPr>
          </a:p>
          <a:p>
            <a:pPr indent="0" lvl="0" marL="0" rtl="0" algn="r">
              <a:spcBef>
                <a:spcPts val="0"/>
              </a:spcBef>
              <a:spcAft>
                <a:spcPts val="0"/>
              </a:spcAft>
              <a:buNone/>
            </a:pPr>
            <a:r>
              <a:rPr lang="en" sz="900">
                <a:solidFill>
                  <a:schemeClr val="dk2"/>
                </a:solidFill>
                <a:latin typeface="Schibsted Grotesk"/>
                <a:ea typeface="Schibsted Grotesk"/>
                <a:cs typeface="Schibsted Grotesk"/>
                <a:sym typeface="Schibsted Grotesk"/>
              </a:rPr>
              <a:t>4029 Guadalupe Street </a:t>
            </a:r>
            <a:endParaRPr sz="900">
              <a:solidFill>
                <a:schemeClr val="dk2"/>
              </a:solidFill>
              <a:latin typeface="Schibsted Grotesk"/>
              <a:ea typeface="Schibsted Grotesk"/>
              <a:cs typeface="Schibsted Grotesk"/>
              <a:sym typeface="Schibsted Grotesk"/>
            </a:endParaRPr>
          </a:p>
          <a:p>
            <a:pPr indent="0" lvl="0" marL="0" rtl="0" algn="r">
              <a:spcBef>
                <a:spcPts val="0"/>
              </a:spcBef>
              <a:spcAft>
                <a:spcPts val="0"/>
              </a:spcAft>
              <a:buNone/>
            </a:pPr>
            <a:r>
              <a:rPr lang="en" sz="900">
                <a:solidFill>
                  <a:schemeClr val="dk2"/>
                </a:solidFill>
                <a:latin typeface="Schibsted Grotesk"/>
                <a:ea typeface="Schibsted Grotesk"/>
                <a:cs typeface="Schibsted Grotesk"/>
                <a:sym typeface="Schibsted Grotesk"/>
              </a:rPr>
              <a:t>Austin, TX 78751</a:t>
            </a:r>
            <a:endParaRPr sz="1100">
              <a:solidFill>
                <a:schemeClr val="dk2"/>
              </a:solidFill>
            </a:endParaRPr>
          </a:p>
        </p:txBody>
      </p:sp>
      <p:sp>
        <p:nvSpPr>
          <p:cNvPr id="75" name="Google Shape;75;p6"/>
          <p:cNvSpPr txBox="1"/>
          <p:nvPr/>
        </p:nvSpPr>
        <p:spPr>
          <a:xfrm>
            <a:off x="5197498" y="301800"/>
            <a:ext cx="2277300" cy="153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i="1" lang="en" sz="1000">
                <a:solidFill>
                  <a:schemeClr val="dk2"/>
                </a:solidFill>
                <a:latin typeface="Schibsted Grotesk"/>
                <a:ea typeface="Schibsted Grotesk"/>
                <a:cs typeface="Schibsted Grotesk"/>
                <a:sym typeface="Schibsted Grotesk"/>
              </a:rPr>
              <a:t>Confidential</a:t>
            </a:r>
            <a:endParaRPr i="1" sz="1000">
              <a:solidFill>
                <a:schemeClr val="dk2"/>
              </a:solidFill>
              <a:latin typeface="Schibsted Grotesk"/>
              <a:ea typeface="Schibsted Grotesk"/>
              <a:cs typeface="Schibsted Grotesk"/>
              <a:sym typeface="Schibsted Grotesk"/>
            </a:endParaRPr>
          </a:p>
        </p:txBody>
      </p:sp>
      <p:sp>
        <p:nvSpPr>
          <p:cNvPr id="76" name="Google Shape;76;p6"/>
          <p:cNvSpPr txBox="1"/>
          <p:nvPr>
            <p:ph idx="12" type="sldNum"/>
          </p:nvPr>
        </p:nvSpPr>
        <p:spPr>
          <a:xfrm>
            <a:off x="7135793" y="9616501"/>
            <a:ext cx="334800" cy="153900"/>
          </a:xfrm>
          <a:prstGeom prst="rect">
            <a:avLst/>
          </a:prstGeom>
          <a:noFill/>
          <a:ln>
            <a:noFill/>
          </a:ln>
        </p:spPr>
        <p:txBody>
          <a:bodyPr anchorCtr="0" anchor="ctr" bIns="0" lIns="0" spcFirstLastPara="1" rIns="0" wrap="square" tIns="0">
            <a:spAutoFit/>
          </a:bodyPr>
          <a:lstStyle>
            <a:lvl1pPr lvl="0" algn="r">
              <a:buNone/>
              <a:defRPr sz="1000">
                <a:solidFill>
                  <a:schemeClr val="dk2"/>
                </a:solidFill>
                <a:latin typeface="Schibsted Grotesk"/>
                <a:ea typeface="Schibsted Grotesk"/>
                <a:cs typeface="Schibsted Grotesk"/>
                <a:sym typeface="Schibsted Grotesk"/>
              </a:defRPr>
            </a:lvl1pPr>
            <a:lvl2pPr lvl="1" algn="r">
              <a:buNone/>
              <a:defRPr sz="1000">
                <a:solidFill>
                  <a:schemeClr val="dk2"/>
                </a:solidFill>
                <a:latin typeface="Schibsted Grotesk"/>
                <a:ea typeface="Schibsted Grotesk"/>
                <a:cs typeface="Schibsted Grotesk"/>
                <a:sym typeface="Schibsted Grotesk"/>
              </a:defRPr>
            </a:lvl2pPr>
            <a:lvl3pPr lvl="2" algn="r">
              <a:buNone/>
              <a:defRPr sz="1000">
                <a:solidFill>
                  <a:schemeClr val="dk2"/>
                </a:solidFill>
                <a:latin typeface="Schibsted Grotesk"/>
                <a:ea typeface="Schibsted Grotesk"/>
                <a:cs typeface="Schibsted Grotesk"/>
                <a:sym typeface="Schibsted Grotesk"/>
              </a:defRPr>
            </a:lvl3pPr>
            <a:lvl4pPr lvl="3" algn="r">
              <a:buNone/>
              <a:defRPr sz="1000">
                <a:solidFill>
                  <a:schemeClr val="dk2"/>
                </a:solidFill>
                <a:latin typeface="Schibsted Grotesk"/>
                <a:ea typeface="Schibsted Grotesk"/>
                <a:cs typeface="Schibsted Grotesk"/>
                <a:sym typeface="Schibsted Grotesk"/>
              </a:defRPr>
            </a:lvl4pPr>
            <a:lvl5pPr lvl="4" algn="r">
              <a:buNone/>
              <a:defRPr sz="1000">
                <a:solidFill>
                  <a:schemeClr val="dk2"/>
                </a:solidFill>
                <a:latin typeface="Schibsted Grotesk"/>
                <a:ea typeface="Schibsted Grotesk"/>
                <a:cs typeface="Schibsted Grotesk"/>
                <a:sym typeface="Schibsted Grotesk"/>
              </a:defRPr>
            </a:lvl5pPr>
            <a:lvl6pPr lvl="5" algn="r">
              <a:buNone/>
              <a:defRPr sz="1000">
                <a:solidFill>
                  <a:schemeClr val="dk2"/>
                </a:solidFill>
                <a:latin typeface="Schibsted Grotesk"/>
                <a:ea typeface="Schibsted Grotesk"/>
                <a:cs typeface="Schibsted Grotesk"/>
                <a:sym typeface="Schibsted Grotesk"/>
              </a:defRPr>
            </a:lvl6pPr>
            <a:lvl7pPr lvl="6" algn="r">
              <a:buNone/>
              <a:defRPr sz="1000">
                <a:solidFill>
                  <a:schemeClr val="dk2"/>
                </a:solidFill>
                <a:latin typeface="Schibsted Grotesk"/>
                <a:ea typeface="Schibsted Grotesk"/>
                <a:cs typeface="Schibsted Grotesk"/>
                <a:sym typeface="Schibsted Grotesk"/>
              </a:defRPr>
            </a:lvl7pPr>
            <a:lvl8pPr lvl="7" algn="r">
              <a:buNone/>
              <a:defRPr sz="1000">
                <a:solidFill>
                  <a:schemeClr val="dk2"/>
                </a:solidFill>
                <a:latin typeface="Schibsted Grotesk"/>
                <a:ea typeface="Schibsted Grotesk"/>
                <a:cs typeface="Schibsted Grotesk"/>
                <a:sym typeface="Schibsted Grotesk"/>
              </a:defRPr>
            </a:lvl8pPr>
            <a:lvl9pPr lvl="8" algn="r">
              <a:buNone/>
              <a:defRPr sz="1000">
                <a:solidFill>
                  <a:schemeClr val="dk2"/>
                </a:solidFill>
                <a:latin typeface="Schibsted Grotesk"/>
                <a:ea typeface="Schibsted Grotesk"/>
                <a:cs typeface="Schibsted Grotesk"/>
                <a:sym typeface="Schibsted Grotesk"/>
              </a:defRPr>
            </a:lvl9pPr>
          </a:lstStyle>
          <a:p>
            <a:pPr indent="0" lvl="0" marL="0" rtl="0" algn="r">
              <a:spcBef>
                <a:spcPts val="0"/>
              </a:spcBef>
              <a:spcAft>
                <a:spcPts val="0"/>
              </a:spcAft>
              <a:buNone/>
            </a:pPr>
            <a:fld id="{00000000-1234-1234-1234-123412341234}" type="slidenum">
              <a:rPr lang="en"/>
              <a:t>‹#›</a:t>
            </a:fld>
            <a:endParaRPr/>
          </a:p>
        </p:txBody>
      </p:sp>
      <p:sp>
        <p:nvSpPr>
          <p:cNvPr id="77" name="Google Shape;77;p6"/>
          <p:cNvSpPr/>
          <p:nvPr/>
        </p:nvSpPr>
        <p:spPr>
          <a:xfrm rot="10800000">
            <a:off x="301800" y="0"/>
            <a:ext cx="2660400" cy="693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pic>
        <p:nvPicPr>
          <p:cNvPr id="78" name="Google Shape;78;p6" title="HC-Logo-Icon-Charcoal@720w.png"/>
          <p:cNvPicPr preferRelativeResize="0"/>
          <p:nvPr/>
        </p:nvPicPr>
        <p:blipFill>
          <a:blip r:embed="rId3">
            <a:alphaModFix amt="40000"/>
          </a:blip>
          <a:stretch>
            <a:fillRect/>
          </a:stretch>
        </p:blipFill>
        <p:spPr>
          <a:xfrm>
            <a:off x="301800" y="9569190"/>
            <a:ext cx="256032" cy="192024"/>
          </a:xfrm>
          <a:prstGeom prst="rect">
            <a:avLst/>
          </a:prstGeom>
          <a:noFill/>
          <a:ln>
            <a:noFill/>
          </a:ln>
        </p:spPr>
      </p:pic>
      <p:sp>
        <p:nvSpPr>
          <p:cNvPr id="79" name="Google Shape;79;p6"/>
          <p:cNvSpPr txBox="1"/>
          <p:nvPr/>
        </p:nvSpPr>
        <p:spPr>
          <a:xfrm>
            <a:off x="679467" y="9578056"/>
            <a:ext cx="1887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2"/>
                </a:solidFill>
                <a:latin typeface="Source Code Pro"/>
                <a:ea typeface="Source Code Pro"/>
                <a:cs typeface="Source Code Pro"/>
                <a:sym typeface="Source Code Pro"/>
              </a:rPr>
              <a:t>Made in Texas</a:t>
            </a:r>
            <a:endParaRPr sz="1000">
              <a:solidFill>
                <a:schemeClr val="dk2"/>
              </a:solidFill>
              <a:latin typeface="Source Code Pro"/>
              <a:ea typeface="Source Code Pro"/>
              <a:cs typeface="Source Code Pro"/>
              <a:sym typeface="Source Code Pro"/>
            </a:endParaRPr>
          </a:p>
        </p:txBody>
      </p:sp>
      <p:cxnSp>
        <p:nvCxnSpPr>
          <p:cNvPr id="80" name="Google Shape;80;p6"/>
          <p:cNvCxnSpPr/>
          <p:nvPr/>
        </p:nvCxnSpPr>
        <p:spPr>
          <a:xfrm>
            <a:off x="533900" y="1592327"/>
            <a:ext cx="6711900" cy="0"/>
          </a:xfrm>
          <a:prstGeom prst="straightConnector1">
            <a:avLst/>
          </a:prstGeom>
          <a:noFill/>
          <a:ln cap="flat" cmpd="sng" w="9525">
            <a:solidFill>
              <a:schemeClr val="dk1"/>
            </a:solidFill>
            <a:prstDash val="solid"/>
            <a:round/>
            <a:headEnd len="med" w="med" type="none"/>
            <a:tailEnd len="med" w="med" type="none"/>
          </a:ln>
        </p:spPr>
      </p:cxnSp>
      <p:cxnSp>
        <p:nvCxnSpPr>
          <p:cNvPr id="81" name="Google Shape;81;p6"/>
          <p:cNvCxnSpPr/>
          <p:nvPr/>
        </p:nvCxnSpPr>
        <p:spPr>
          <a:xfrm>
            <a:off x="532450" y="3712477"/>
            <a:ext cx="6711900" cy="0"/>
          </a:xfrm>
          <a:prstGeom prst="straightConnector1">
            <a:avLst/>
          </a:prstGeom>
          <a:noFill/>
          <a:ln cap="flat" cmpd="sng" w="9525">
            <a:solidFill>
              <a:schemeClr val="dk1"/>
            </a:solidFill>
            <a:prstDash val="solid"/>
            <a:round/>
            <a:headEnd len="med" w="med" type="none"/>
            <a:tailEnd len="med" w="med" type="none"/>
          </a:ln>
        </p:spPr>
      </p:cxnSp>
      <p:sp>
        <p:nvSpPr>
          <p:cNvPr id="82" name="Google Shape;82;p6"/>
          <p:cNvSpPr/>
          <p:nvPr>
            <p:ph idx="2" type="pic"/>
          </p:nvPr>
        </p:nvSpPr>
        <p:spPr>
          <a:xfrm>
            <a:off x="4651425" y="1711925"/>
            <a:ext cx="2594100" cy="1682100"/>
          </a:xfrm>
          <a:prstGeom prst="roundRect">
            <a:avLst>
              <a:gd fmla="val 3020" name="adj"/>
            </a:avLst>
          </a:prstGeom>
          <a:noFill/>
          <a:ln>
            <a:noFill/>
          </a:ln>
        </p:spPr>
      </p:sp>
      <p:sp>
        <p:nvSpPr>
          <p:cNvPr id="83" name="Google Shape;83;p6"/>
          <p:cNvSpPr/>
          <p:nvPr>
            <p:ph idx="3" type="pic"/>
          </p:nvPr>
        </p:nvSpPr>
        <p:spPr>
          <a:xfrm>
            <a:off x="4651425" y="3832075"/>
            <a:ext cx="2594100" cy="1682100"/>
          </a:xfrm>
          <a:prstGeom prst="roundRect">
            <a:avLst>
              <a:gd fmla="val 3020" name="adj"/>
            </a:avLst>
          </a:prstGeom>
          <a:noFill/>
          <a:ln>
            <a:noFill/>
          </a:ln>
        </p:spPr>
      </p:sp>
    </p:spTree>
  </p:cSld>
  <p:clrMapOvr>
    <a:masterClrMapping/>
  </p:clrMapOvr>
  <p:extLst>
    <p:ext uri="{DCECCB84-F9BA-43D5-87BE-67443E8EF086}">
      <p15:sldGuideLst>
        <p15:guide id="1" orient="horz" pos="2658">
          <p15:clr>
            <a:srgbClr val="E46962"/>
          </p15:clr>
        </p15:guide>
        <p15:guide id="2" orient="horz" pos="3614">
          <p15:clr>
            <a:srgbClr val="E46962"/>
          </p15:clr>
        </p15:guide>
        <p15:guide id="3" orient="horz" pos="888">
          <p15:clr>
            <a:srgbClr val="E46962"/>
          </p15:clr>
        </p15:guide>
        <p15:guide id="4" orient="horz" pos="3981">
          <p15:clr>
            <a:srgbClr val="E46962"/>
          </p15:clr>
        </p15:guide>
        <p15:guide id="5" orient="horz" pos="3852">
          <p15:clr>
            <a:srgbClr val="3C78D8"/>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Copy Page Template">
  <p:cSld name="CUSTOM_1">
    <p:spTree>
      <p:nvGrpSpPr>
        <p:cNvPr id="84" name="Shape 84"/>
        <p:cNvGrpSpPr/>
        <p:nvPr/>
      </p:nvGrpSpPr>
      <p:grpSpPr>
        <a:xfrm>
          <a:off x="0" y="0"/>
          <a:ext cx="0" cy="0"/>
          <a:chOff x="0" y="0"/>
          <a:chExt cx="0" cy="0"/>
        </a:xfrm>
      </p:grpSpPr>
      <p:sp>
        <p:nvSpPr>
          <p:cNvPr id="85" name="Google Shape;85;p7"/>
          <p:cNvSpPr txBox="1"/>
          <p:nvPr>
            <p:ph idx="12" type="sldNum"/>
          </p:nvPr>
        </p:nvSpPr>
        <p:spPr>
          <a:xfrm>
            <a:off x="7135793" y="9616501"/>
            <a:ext cx="334800" cy="153900"/>
          </a:xfrm>
          <a:prstGeom prst="rect">
            <a:avLst/>
          </a:prstGeom>
          <a:noFill/>
          <a:ln>
            <a:noFill/>
          </a:ln>
        </p:spPr>
        <p:txBody>
          <a:bodyPr anchorCtr="0" anchor="ctr" bIns="0" lIns="0" spcFirstLastPara="1" rIns="0" wrap="square" tIns="0">
            <a:spAutoFit/>
          </a:bodyPr>
          <a:lstStyle>
            <a:lvl1pPr lvl="0" algn="r">
              <a:buNone/>
              <a:defRPr sz="1000">
                <a:solidFill>
                  <a:schemeClr val="dk2"/>
                </a:solidFill>
                <a:latin typeface="Schibsted Grotesk"/>
                <a:ea typeface="Schibsted Grotesk"/>
                <a:cs typeface="Schibsted Grotesk"/>
                <a:sym typeface="Schibsted Grotesk"/>
              </a:defRPr>
            </a:lvl1pPr>
            <a:lvl2pPr lvl="1" algn="r">
              <a:buNone/>
              <a:defRPr sz="1000">
                <a:solidFill>
                  <a:schemeClr val="dk2"/>
                </a:solidFill>
                <a:latin typeface="Schibsted Grotesk"/>
                <a:ea typeface="Schibsted Grotesk"/>
                <a:cs typeface="Schibsted Grotesk"/>
                <a:sym typeface="Schibsted Grotesk"/>
              </a:defRPr>
            </a:lvl2pPr>
            <a:lvl3pPr lvl="2" algn="r">
              <a:buNone/>
              <a:defRPr sz="1000">
                <a:solidFill>
                  <a:schemeClr val="dk2"/>
                </a:solidFill>
                <a:latin typeface="Schibsted Grotesk"/>
                <a:ea typeface="Schibsted Grotesk"/>
                <a:cs typeface="Schibsted Grotesk"/>
                <a:sym typeface="Schibsted Grotesk"/>
              </a:defRPr>
            </a:lvl3pPr>
            <a:lvl4pPr lvl="3" algn="r">
              <a:buNone/>
              <a:defRPr sz="1000">
                <a:solidFill>
                  <a:schemeClr val="dk2"/>
                </a:solidFill>
                <a:latin typeface="Schibsted Grotesk"/>
                <a:ea typeface="Schibsted Grotesk"/>
                <a:cs typeface="Schibsted Grotesk"/>
                <a:sym typeface="Schibsted Grotesk"/>
              </a:defRPr>
            </a:lvl4pPr>
            <a:lvl5pPr lvl="4" algn="r">
              <a:buNone/>
              <a:defRPr sz="1000">
                <a:solidFill>
                  <a:schemeClr val="dk2"/>
                </a:solidFill>
                <a:latin typeface="Schibsted Grotesk"/>
                <a:ea typeface="Schibsted Grotesk"/>
                <a:cs typeface="Schibsted Grotesk"/>
                <a:sym typeface="Schibsted Grotesk"/>
              </a:defRPr>
            </a:lvl5pPr>
            <a:lvl6pPr lvl="5" algn="r">
              <a:buNone/>
              <a:defRPr sz="1000">
                <a:solidFill>
                  <a:schemeClr val="dk2"/>
                </a:solidFill>
                <a:latin typeface="Schibsted Grotesk"/>
                <a:ea typeface="Schibsted Grotesk"/>
                <a:cs typeface="Schibsted Grotesk"/>
                <a:sym typeface="Schibsted Grotesk"/>
              </a:defRPr>
            </a:lvl6pPr>
            <a:lvl7pPr lvl="6" algn="r">
              <a:buNone/>
              <a:defRPr sz="1000">
                <a:solidFill>
                  <a:schemeClr val="dk2"/>
                </a:solidFill>
                <a:latin typeface="Schibsted Grotesk"/>
                <a:ea typeface="Schibsted Grotesk"/>
                <a:cs typeface="Schibsted Grotesk"/>
                <a:sym typeface="Schibsted Grotesk"/>
              </a:defRPr>
            </a:lvl7pPr>
            <a:lvl8pPr lvl="7" algn="r">
              <a:buNone/>
              <a:defRPr sz="1000">
                <a:solidFill>
                  <a:schemeClr val="dk2"/>
                </a:solidFill>
                <a:latin typeface="Schibsted Grotesk"/>
                <a:ea typeface="Schibsted Grotesk"/>
                <a:cs typeface="Schibsted Grotesk"/>
                <a:sym typeface="Schibsted Grotesk"/>
              </a:defRPr>
            </a:lvl8pPr>
            <a:lvl9pPr lvl="8" algn="r">
              <a:buNone/>
              <a:defRPr sz="1000">
                <a:solidFill>
                  <a:schemeClr val="dk2"/>
                </a:solidFill>
                <a:latin typeface="Schibsted Grotesk"/>
                <a:ea typeface="Schibsted Grotesk"/>
                <a:cs typeface="Schibsted Grotesk"/>
                <a:sym typeface="Schibsted Grotesk"/>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7" title="HC-Logo-Black@720w.png"/>
          <p:cNvPicPr preferRelativeResize="0"/>
          <p:nvPr/>
        </p:nvPicPr>
        <p:blipFill>
          <a:blip r:embed="rId2">
            <a:alphaModFix/>
          </a:blip>
          <a:stretch>
            <a:fillRect/>
          </a:stretch>
        </p:blipFill>
        <p:spPr>
          <a:xfrm>
            <a:off x="304800" y="291002"/>
            <a:ext cx="2652750" cy="206325"/>
          </a:xfrm>
          <a:prstGeom prst="rect">
            <a:avLst/>
          </a:prstGeom>
          <a:noFill/>
          <a:ln>
            <a:noFill/>
          </a:ln>
        </p:spPr>
      </p:pic>
      <p:sp>
        <p:nvSpPr>
          <p:cNvPr id="87" name="Google Shape;87;p7"/>
          <p:cNvSpPr/>
          <p:nvPr/>
        </p:nvSpPr>
        <p:spPr>
          <a:xfrm rot="10800000">
            <a:off x="301800" y="0"/>
            <a:ext cx="2660400" cy="693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chibsted Grotesk"/>
              <a:ea typeface="Schibsted Grotesk"/>
              <a:cs typeface="Schibsted Grotesk"/>
              <a:sym typeface="Schibsted Grotesk"/>
            </a:endParaRPr>
          </a:p>
        </p:txBody>
      </p:sp>
      <p:pic>
        <p:nvPicPr>
          <p:cNvPr id="88" name="Google Shape;88;p7" title="HC-Logo-Icon-Charcoal@720w.png"/>
          <p:cNvPicPr preferRelativeResize="0"/>
          <p:nvPr/>
        </p:nvPicPr>
        <p:blipFill>
          <a:blip r:embed="rId3">
            <a:alphaModFix amt="40000"/>
          </a:blip>
          <a:stretch>
            <a:fillRect/>
          </a:stretch>
        </p:blipFill>
        <p:spPr>
          <a:xfrm>
            <a:off x="301800" y="9569190"/>
            <a:ext cx="256032" cy="192024"/>
          </a:xfrm>
          <a:prstGeom prst="rect">
            <a:avLst/>
          </a:prstGeom>
          <a:noFill/>
          <a:ln>
            <a:noFill/>
          </a:ln>
        </p:spPr>
      </p:pic>
      <p:sp>
        <p:nvSpPr>
          <p:cNvPr id="89" name="Google Shape;89;p7"/>
          <p:cNvSpPr txBox="1"/>
          <p:nvPr/>
        </p:nvSpPr>
        <p:spPr>
          <a:xfrm>
            <a:off x="679467" y="9578056"/>
            <a:ext cx="18870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dk2"/>
                </a:solidFill>
                <a:latin typeface="Source Code Pro"/>
                <a:ea typeface="Source Code Pro"/>
                <a:cs typeface="Source Code Pro"/>
                <a:sym typeface="Source Code Pro"/>
              </a:rPr>
              <a:t>Made in Texas</a:t>
            </a:r>
            <a:endParaRPr sz="1000">
              <a:solidFill>
                <a:schemeClr val="dk2"/>
              </a:solidFill>
              <a:latin typeface="Source Code Pro"/>
              <a:ea typeface="Source Code Pro"/>
              <a:cs typeface="Source Code Pro"/>
              <a:sym typeface="Source Code Pro"/>
            </a:endParaRPr>
          </a:p>
        </p:txBody>
      </p:sp>
    </p:spTree>
  </p:cSld>
  <p:clrMapOvr>
    <a:masterClrMapping/>
  </p:clrMapOvr>
  <p:extLst>
    <p:ext uri="{DCECCB84-F9BA-43D5-87BE-67443E8EF086}">
      <p15:sldGuideLst>
        <p15:guide id="1" orient="horz" pos="589">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7714" y="870271"/>
            <a:ext cx="7242600" cy="11199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Font typeface="Merriweather Light"/>
              <a:buNone/>
              <a:defRPr sz="2800">
                <a:solidFill>
                  <a:schemeClr val="dk1"/>
                </a:solidFill>
                <a:latin typeface="Merriweather Light"/>
                <a:ea typeface="Merriweather Light"/>
                <a:cs typeface="Merriweather Light"/>
                <a:sym typeface="Merriweather Light"/>
              </a:defRPr>
            </a:lvl1pPr>
            <a:lvl2pPr lvl="1" rtl="0">
              <a:spcBef>
                <a:spcPts val="0"/>
              </a:spcBef>
              <a:spcAft>
                <a:spcPts val="0"/>
              </a:spcAft>
              <a:buClr>
                <a:schemeClr val="dk1"/>
              </a:buClr>
              <a:buSzPts val="2800"/>
              <a:buFont typeface="Schibsted Grotesk Medium"/>
              <a:buNone/>
              <a:defRPr sz="2800">
                <a:solidFill>
                  <a:schemeClr val="dk1"/>
                </a:solidFill>
                <a:latin typeface="Schibsted Grotesk Medium"/>
                <a:ea typeface="Schibsted Grotesk Medium"/>
                <a:cs typeface="Schibsted Grotesk Medium"/>
                <a:sym typeface="Schibsted Grotesk Medium"/>
              </a:defRPr>
            </a:lvl2pPr>
            <a:lvl3pPr lvl="2" rtl="0">
              <a:spcBef>
                <a:spcPts val="0"/>
              </a:spcBef>
              <a:spcAft>
                <a:spcPts val="0"/>
              </a:spcAft>
              <a:buClr>
                <a:schemeClr val="dk1"/>
              </a:buClr>
              <a:buSzPts val="2800"/>
              <a:buFont typeface="Schibsted Grotesk Medium"/>
              <a:buNone/>
              <a:defRPr sz="2800">
                <a:solidFill>
                  <a:schemeClr val="dk1"/>
                </a:solidFill>
                <a:latin typeface="Schibsted Grotesk Medium"/>
                <a:ea typeface="Schibsted Grotesk Medium"/>
                <a:cs typeface="Schibsted Grotesk Medium"/>
                <a:sym typeface="Schibsted Grotesk Medium"/>
              </a:defRPr>
            </a:lvl3pPr>
            <a:lvl4pPr lvl="3" rtl="0">
              <a:spcBef>
                <a:spcPts val="0"/>
              </a:spcBef>
              <a:spcAft>
                <a:spcPts val="0"/>
              </a:spcAft>
              <a:buClr>
                <a:schemeClr val="dk1"/>
              </a:buClr>
              <a:buSzPts val="2800"/>
              <a:buFont typeface="Schibsted Grotesk Medium"/>
              <a:buNone/>
              <a:defRPr sz="2800">
                <a:solidFill>
                  <a:schemeClr val="dk1"/>
                </a:solidFill>
                <a:latin typeface="Schibsted Grotesk Medium"/>
                <a:ea typeface="Schibsted Grotesk Medium"/>
                <a:cs typeface="Schibsted Grotesk Medium"/>
                <a:sym typeface="Schibsted Grotesk Medium"/>
              </a:defRPr>
            </a:lvl4pPr>
            <a:lvl5pPr lvl="4" rtl="0">
              <a:spcBef>
                <a:spcPts val="0"/>
              </a:spcBef>
              <a:spcAft>
                <a:spcPts val="0"/>
              </a:spcAft>
              <a:buClr>
                <a:schemeClr val="dk1"/>
              </a:buClr>
              <a:buSzPts val="2800"/>
              <a:buFont typeface="Schibsted Grotesk Medium"/>
              <a:buNone/>
              <a:defRPr sz="2800">
                <a:solidFill>
                  <a:schemeClr val="dk1"/>
                </a:solidFill>
                <a:latin typeface="Schibsted Grotesk Medium"/>
                <a:ea typeface="Schibsted Grotesk Medium"/>
                <a:cs typeface="Schibsted Grotesk Medium"/>
                <a:sym typeface="Schibsted Grotesk Medium"/>
              </a:defRPr>
            </a:lvl5pPr>
            <a:lvl6pPr lvl="5" rtl="0">
              <a:spcBef>
                <a:spcPts val="0"/>
              </a:spcBef>
              <a:spcAft>
                <a:spcPts val="0"/>
              </a:spcAft>
              <a:buClr>
                <a:schemeClr val="dk1"/>
              </a:buClr>
              <a:buSzPts val="2800"/>
              <a:buFont typeface="Schibsted Grotesk Medium"/>
              <a:buNone/>
              <a:defRPr sz="2800">
                <a:solidFill>
                  <a:schemeClr val="dk1"/>
                </a:solidFill>
                <a:latin typeface="Schibsted Grotesk Medium"/>
                <a:ea typeface="Schibsted Grotesk Medium"/>
                <a:cs typeface="Schibsted Grotesk Medium"/>
                <a:sym typeface="Schibsted Grotesk Medium"/>
              </a:defRPr>
            </a:lvl6pPr>
            <a:lvl7pPr lvl="6" rtl="0">
              <a:spcBef>
                <a:spcPts val="0"/>
              </a:spcBef>
              <a:spcAft>
                <a:spcPts val="0"/>
              </a:spcAft>
              <a:buClr>
                <a:schemeClr val="dk1"/>
              </a:buClr>
              <a:buSzPts val="2800"/>
              <a:buFont typeface="Schibsted Grotesk Medium"/>
              <a:buNone/>
              <a:defRPr sz="2800">
                <a:solidFill>
                  <a:schemeClr val="dk1"/>
                </a:solidFill>
                <a:latin typeface="Schibsted Grotesk Medium"/>
                <a:ea typeface="Schibsted Grotesk Medium"/>
                <a:cs typeface="Schibsted Grotesk Medium"/>
                <a:sym typeface="Schibsted Grotesk Medium"/>
              </a:defRPr>
            </a:lvl7pPr>
            <a:lvl8pPr lvl="7" rtl="0">
              <a:spcBef>
                <a:spcPts val="0"/>
              </a:spcBef>
              <a:spcAft>
                <a:spcPts val="0"/>
              </a:spcAft>
              <a:buClr>
                <a:schemeClr val="dk1"/>
              </a:buClr>
              <a:buSzPts val="2800"/>
              <a:buFont typeface="Schibsted Grotesk Medium"/>
              <a:buNone/>
              <a:defRPr sz="2800">
                <a:solidFill>
                  <a:schemeClr val="dk1"/>
                </a:solidFill>
                <a:latin typeface="Schibsted Grotesk Medium"/>
                <a:ea typeface="Schibsted Grotesk Medium"/>
                <a:cs typeface="Schibsted Grotesk Medium"/>
                <a:sym typeface="Schibsted Grotesk Medium"/>
              </a:defRPr>
            </a:lvl8pPr>
            <a:lvl9pPr lvl="8" rtl="0">
              <a:spcBef>
                <a:spcPts val="0"/>
              </a:spcBef>
              <a:spcAft>
                <a:spcPts val="0"/>
              </a:spcAft>
              <a:buClr>
                <a:schemeClr val="dk1"/>
              </a:buClr>
              <a:buSzPts val="2800"/>
              <a:buFont typeface="Schibsted Grotesk Medium"/>
              <a:buNone/>
              <a:defRPr sz="2800">
                <a:solidFill>
                  <a:schemeClr val="dk1"/>
                </a:solidFill>
                <a:latin typeface="Schibsted Grotesk Medium"/>
                <a:ea typeface="Schibsted Grotesk Medium"/>
                <a:cs typeface="Schibsted Grotesk Medium"/>
                <a:sym typeface="Schibsted Grotesk Medium"/>
              </a:defRPr>
            </a:lvl9pPr>
          </a:lstStyle>
          <a:p/>
        </p:txBody>
      </p:sp>
      <p:sp>
        <p:nvSpPr>
          <p:cNvPr id="7" name="Google Shape;7;p1"/>
          <p:cNvSpPr txBox="1"/>
          <p:nvPr>
            <p:ph idx="1" type="body"/>
          </p:nvPr>
        </p:nvSpPr>
        <p:spPr>
          <a:xfrm>
            <a:off x="347714" y="2253729"/>
            <a:ext cx="6064500" cy="6665700"/>
          </a:xfrm>
          <a:prstGeom prst="rect">
            <a:avLst/>
          </a:prstGeom>
          <a:noFill/>
          <a:ln>
            <a:noFill/>
          </a:ln>
        </p:spPr>
        <p:txBody>
          <a:bodyPr anchorCtr="0" anchor="t" bIns="91425" lIns="0" spcFirstLastPara="1" rIns="91425" wrap="square" tIns="91425">
            <a:normAutofit/>
          </a:bodyPr>
          <a:lstStyle>
            <a:lvl1pPr indent="-317500" lvl="0" marL="457200" rtl="0">
              <a:lnSpc>
                <a:spcPct val="115000"/>
              </a:lnSpc>
              <a:spcBef>
                <a:spcPts val="0"/>
              </a:spcBef>
              <a:spcAft>
                <a:spcPts val="0"/>
              </a:spcAft>
              <a:buClr>
                <a:schemeClr val="dk2"/>
              </a:buClr>
              <a:buSzPts val="1400"/>
              <a:buFont typeface="Schibsted Grotesk"/>
              <a:buChar char="●"/>
              <a:defRPr>
                <a:solidFill>
                  <a:schemeClr val="dk2"/>
                </a:solidFill>
                <a:latin typeface="Schibsted Grotesk"/>
                <a:ea typeface="Schibsted Grotesk"/>
                <a:cs typeface="Schibsted Grotesk"/>
                <a:sym typeface="Schibsted Grotesk"/>
              </a:defRPr>
            </a:lvl1pPr>
            <a:lvl2pPr indent="-304800" lvl="1" marL="914400" rtl="0">
              <a:lnSpc>
                <a:spcPct val="115000"/>
              </a:lnSpc>
              <a:spcBef>
                <a:spcPts val="0"/>
              </a:spcBef>
              <a:spcAft>
                <a:spcPts val="0"/>
              </a:spcAft>
              <a:buClr>
                <a:schemeClr val="dk2"/>
              </a:buClr>
              <a:buSzPts val="1200"/>
              <a:buFont typeface="Schibsted Grotesk"/>
              <a:buChar char="○"/>
              <a:defRPr sz="1200">
                <a:solidFill>
                  <a:schemeClr val="dk2"/>
                </a:solidFill>
                <a:latin typeface="Schibsted Grotesk"/>
                <a:ea typeface="Schibsted Grotesk"/>
                <a:cs typeface="Schibsted Grotesk"/>
                <a:sym typeface="Schibsted Grotesk"/>
              </a:defRPr>
            </a:lvl2pPr>
            <a:lvl3pPr indent="-304800" lvl="2" marL="1371600" rtl="0">
              <a:lnSpc>
                <a:spcPct val="115000"/>
              </a:lnSpc>
              <a:spcBef>
                <a:spcPts val="0"/>
              </a:spcBef>
              <a:spcAft>
                <a:spcPts val="0"/>
              </a:spcAft>
              <a:buClr>
                <a:schemeClr val="dk2"/>
              </a:buClr>
              <a:buSzPts val="1200"/>
              <a:buFont typeface="Schibsted Grotesk"/>
              <a:buChar char="■"/>
              <a:defRPr sz="1200">
                <a:solidFill>
                  <a:schemeClr val="dk2"/>
                </a:solidFill>
                <a:latin typeface="Schibsted Grotesk"/>
                <a:ea typeface="Schibsted Grotesk"/>
                <a:cs typeface="Schibsted Grotesk"/>
                <a:sym typeface="Schibsted Grotesk"/>
              </a:defRPr>
            </a:lvl3pPr>
            <a:lvl4pPr indent="-304800" lvl="3" marL="1828800" rtl="0">
              <a:lnSpc>
                <a:spcPct val="115000"/>
              </a:lnSpc>
              <a:spcBef>
                <a:spcPts val="0"/>
              </a:spcBef>
              <a:spcAft>
                <a:spcPts val="0"/>
              </a:spcAft>
              <a:buClr>
                <a:schemeClr val="dk2"/>
              </a:buClr>
              <a:buSzPts val="1200"/>
              <a:buFont typeface="Schibsted Grotesk"/>
              <a:buChar char="●"/>
              <a:defRPr sz="1200">
                <a:solidFill>
                  <a:schemeClr val="dk2"/>
                </a:solidFill>
                <a:latin typeface="Schibsted Grotesk"/>
                <a:ea typeface="Schibsted Grotesk"/>
                <a:cs typeface="Schibsted Grotesk"/>
                <a:sym typeface="Schibsted Grotesk"/>
              </a:defRPr>
            </a:lvl4pPr>
            <a:lvl5pPr indent="-304800" lvl="4" marL="2286000" rtl="0">
              <a:lnSpc>
                <a:spcPct val="115000"/>
              </a:lnSpc>
              <a:spcBef>
                <a:spcPts val="0"/>
              </a:spcBef>
              <a:spcAft>
                <a:spcPts val="0"/>
              </a:spcAft>
              <a:buClr>
                <a:schemeClr val="dk2"/>
              </a:buClr>
              <a:buSzPts val="1200"/>
              <a:buFont typeface="Schibsted Grotesk"/>
              <a:buChar char="○"/>
              <a:defRPr sz="1200">
                <a:solidFill>
                  <a:schemeClr val="dk2"/>
                </a:solidFill>
                <a:latin typeface="Schibsted Grotesk"/>
                <a:ea typeface="Schibsted Grotesk"/>
                <a:cs typeface="Schibsted Grotesk"/>
                <a:sym typeface="Schibsted Grotesk"/>
              </a:defRPr>
            </a:lvl5pPr>
            <a:lvl6pPr indent="-304800" lvl="5" marL="2743200" rtl="0">
              <a:lnSpc>
                <a:spcPct val="115000"/>
              </a:lnSpc>
              <a:spcBef>
                <a:spcPts val="0"/>
              </a:spcBef>
              <a:spcAft>
                <a:spcPts val="0"/>
              </a:spcAft>
              <a:buClr>
                <a:schemeClr val="dk2"/>
              </a:buClr>
              <a:buSzPts val="1200"/>
              <a:buFont typeface="Schibsted Grotesk"/>
              <a:buChar char="■"/>
              <a:defRPr sz="1200">
                <a:solidFill>
                  <a:schemeClr val="dk2"/>
                </a:solidFill>
                <a:latin typeface="Schibsted Grotesk"/>
                <a:ea typeface="Schibsted Grotesk"/>
                <a:cs typeface="Schibsted Grotesk"/>
                <a:sym typeface="Schibsted Grotesk"/>
              </a:defRPr>
            </a:lvl6pPr>
            <a:lvl7pPr indent="-304800" lvl="6" marL="3200400" rtl="0">
              <a:lnSpc>
                <a:spcPct val="115000"/>
              </a:lnSpc>
              <a:spcBef>
                <a:spcPts val="0"/>
              </a:spcBef>
              <a:spcAft>
                <a:spcPts val="0"/>
              </a:spcAft>
              <a:buClr>
                <a:schemeClr val="dk2"/>
              </a:buClr>
              <a:buSzPts val="1200"/>
              <a:buFont typeface="Schibsted Grotesk"/>
              <a:buChar char="●"/>
              <a:defRPr sz="1200">
                <a:solidFill>
                  <a:schemeClr val="dk2"/>
                </a:solidFill>
                <a:latin typeface="Schibsted Grotesk"/>
                <a:ea typeface="Schibsted Grotesk"/>
                <a:cs typeface="Schibsted Grotesk"/>
                <a:sym typeface="Schibsted Grotesk"/>
              </a:defRPr>
            </a:lvl7pPr>
            <a:lvl8pPr indent="-304800" lvl="7" marL="3657600" rtl="0">
              <a:lnSpc>
                <a:spcPct val="115000"/>
              </a:lnSpc>
              <a:spcBef>
                <a:spcPts val="0"/>
              </a:spcBef>
              <a:spcAft>
                <a:spcPts val="0"/>
              </a:spcAft>
              <a:buClr>
                <a:schemeClr val="dk2"/>
              </a:buClr>
              <a:buSzPts val="1200"/>
              <a:buFont typeface="Schibsted Grotesk"/>
              <a:buChar char="○"/>
              <a:defRPr sz="1200">
                <a:solidFill>
                  <a:schemeClr val="dk2"/>
                </a:solidFill>
                <a:latin typeface="Schibsted Grotesk"/>
                <a:ea typeface="Schibsted Grotesk"/>
                <a:cs typeface="Schibsted Grotesk"/>
                <a:sym typeface="Schibsted Grotesk"/>
              </a:defRPr>
            </a:lvl8pPr>
            <a:lvl9pPr indent="-304800" lvl="8" marL="4114800" rtl="0">
              <a:lnSpc>
                <a:spcPct val="115000"/>
              </a:lnSpc>
              <a:spcBef>
                <a:spcPts val="0"/>
              </a:spcBef>
              <a:spcAft>
                <a:spcPts val="0"/>
              </a:spcAft>
              <a:buClr>
                <a:schemeClr val="dk2"/>
              </a:buClr>
              <a:buSzPts val="1200"/>
              <a:buFont typeface="Schibsted Grotesk"/>
              <a:buChar char="■"/>
              <a:defRPr sz="1200">
                <a:solidFill>
                  <a:schemeClr val="dk2"/>
                </a:solidFill>
                <a:latin typeface="Schibsted Grotesk"/>
                <a:ea typeface="Schibsted Grotesk"/>
                <a:cs typeface="Schibsted Grotesk"/>
                <a:sym typeface="Schibsted Grotesk"/>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90">
          <p15:clr>
            <a:srgbClr val="E46962"/>
          </p15:clr>
        </p15:guide>
        <p15:guide id="2" pos="190">
          <p15:clr>
            <a:srgbClr val="E46962"/>
          </p15:clr>
        </p15:guide>
        <p15:guide id="3" orient="horz" pos="6146">
          <p15:clr>
            <a:srgbClr val="E46962"/>
          </p15:clr>
        </p15:guide>
        <p15:guide id="4" pos="4709">
          <p15:clr>
            <a:srgbClr val="E46962"/>
          </p15:clr>
        </p15:guide>
        <p15:guide id="5" pos="830">
          <p15:clr>
            <a:srgbClr val="E46962"/>
          </p15:clr>
        </p15:guide>
        <p15:guide id="6" pos="966">
          <p15:clr>
            <a:srgbClr val="E46962"/>
          </p15:clr>
        </p15:guide>
        <p15:guide id="7" pos="1606">
          <p15:clr>
            <a:srgbClr val="E46962"/>
          </p15:clr>
        </p15:guide>
        <p15:guide id="8" pos="1741">
          <p15:clr>
            <a:srgbClr val="E46962"/>
          </p15:clr>
        </p15:guide>
        <p15:guide id="9" pos="2382">
          <p15:clr>
            <a:srgbClr val="E46962"/>
          </p15:clr>
        </p15:guide>
        <p15:guide id="10" pos="2517">
          <p15:clr>
            <a:srgbClr val="E46962"/>
          </p15:clr>
        </p15:guide>
        <p15:guide id="11" pos="3157">
          <p15:clr>
            <a:srgbClr val="E46962"/>
          </p15:clr>
        </p15:guide>
        <p15:guide id="12" pos="3293">
          <p15:clr>
            <a:srgbClr val="E46962"/>
          </p15:clr>
        </p15:guide>
        <p15:guide id="13" pos="3933">
          <p15:clr>
            <a:srgbClr val="E46962"/>
          </p15:clr>
        </p15:guide>
        <p15:guide id="14" pos="4069">
          <p15:clr>
            <a:srgbClr val="E46962"/>
          </p15:clr>
        </p15:guide>
        <p15:guide id="15" orient="horz" pos="5976">
          <p15:clr>
            <a:srgbClr val="E46962"/>
          </p15:clr>
        </p15:guide>
        <p15:guide id="16" pos="334">
          <p15:clr>
            <a:srgbClr val="E46962"/>
          </p15:clr>
        </p15:guide>
        <p15:guide id="17" pos="456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hyperlink" Target="https://app.junipersquare.com/login?path=%2Fi%2Fharborcap" TargetMode="External"/><Relationship Id="rId5" Type="http://schemas.openxmlformats.org/officeDocument/2006/relationships/hyperlink" Target="https://www.commercialcafe.com/blog/national-industrial-report/" TargetMode="External"/><Relationship Id="rId6" Type="http://schemas.openxmlformats.org/officeDocument/2006/relationships/hyperlink" Target="https://www.cushmanwakefield.com/en/united-states/news/2026/04/peak-industrial-vacancy-likely-in-rearview-mirror-as-demand-holds-and-supply-slows" TargetMode="External"/><Relationship Id="rId7" Type="http://schemas.openxmlformats.org/officeDocument/2006/relationships/hyperlink" Target="https://www.bisnow.com/dallas-ft-worth/news/commercial-real-estate/elevated-costs-and-complicated-cap-stacks-dont-stop-dfw-deals-from-getting-done-134241" TargetMode="External"/><Relationship Id="rId8" Type="http://schemas.openxmlformats.org/officeDocument/2006/relationships/hyperlink" Target="https://trerc.tamu.edu/reports/2026-texas-real-estate-forecas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8"/>
          <p:cNvSpPr txBox="1"/>
          <p:nvPr/>
        </p:nvSpPr>
        <p:spPr>
          <a:xfrm>
            <a:off x="301800" y="6319080"/>
            <a:ext cx="7173000" cy="3955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700">
                <a:solidFill>
                  <a:schemeClr val="dk1"/>
                </a:solidFill>
                <a:latin typeface="Merriweather Light"/>
                <a:ea typeface="Merriweather Light"/>
                <a:cs typeface="Merriweather Light"/>
                <a:sym typeface="Merriweather Light"/>
              </a:rPr>
              <a:t>Property Updates</a:t>
            </a:r>
            <a:endParaRPr sz="1700">
              <a:solidFill>
                <a:schemeClr val="dk1"/>
              </a:solidFill>
              <a:latin typeface="Merriweather Light"/>
              <a:ea typeface="Merriweather Light"/>
              <a:cs typeface="Merriweather Light"/>
              <a:sym typeface="Merriweather Light"/>
            </a:endParaRPr>
          </a:p>
          <a:p>
            <a:pPr indent="0" lvl="0" marL="0" rtl="0" algn="l">
              <a:spcBef>
                <a:spcPts val="0"/>
              </a:spcBef>
              <a:spcAft>
                <a:spcPts val="0"/>
              </a:spcAft>
              <a:buNone/>
            </a:pPr>
            <a:r>
              <a:t/>
            </a:r>
            <a:endParaRPr sz="10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Clr>
                <a:schemeClr val="dk1"/>
              </a:buClr>
              <a:buSzPts val="1100"/>
              <a:buFont typeface="Arial"/>
              <a:buNone/>
            </a:pPr>
            <a:r>
              <a:rPr lang="en" sz="1000">
                <a:solidFill>
                  <a:schemeClr val="dk1"/>
                </a:solidFill>
                <a:latin typeface="Schibsted Grotesk"/>
                <a:ea typeface="Schibsted Grotesk"/>
                <a:cs typeface="Schibsted Grotesk"/>
                <a:sym typeface="Schibsted Grotesk"/>
              </a:rPr>
              <a:t>The Laredo industrial market is still under pressure. Vacancy across the market is now approaching 20%, driven by the same tariff-related uncertainty that has kept tenant decision-making largely on hold for the better part of a year. Business owners are hesitant to sign leases or commit to expansions until there is more clarity on trade policy, and we expect this softness to persist in the near term. On the bright side, multiple brokers in the area report that dozens of companies are planning expansions into the area, representing millions of square feet of new leasing, which they will trigger once certainty on trade relations is reached and maintained.</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rPr lang="en" sz="1000">
                <a:solidFill>
                  <a:schemeClr val="dk1"/>
                </a:solidFill>
                <a:latin typeface="Schibsted Grotesk"/>
                <a:ea typeface="Schibsted Grotesk"/>
                <a:cs typeface="Schibsted Grotesk"/>
                <a:sym typeface="Schibsted Grotesk"/>
              </a:rPr>
              <a:t>AGC, our in-place tenant occupying approximately 67% of the building, is running a profitable business and paying rent on time. The expansion conversation we referenced last month, where their warehouse manager expressed interest in taking the remaining space, has not yet advanced. Any expansion on their part would be contract-dependent, and we are maintaining an open and constructive relationship with them as that situation develops.</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rPr lang="en" sz="1000">
                <a:solidFill>
                  <a:schemeClr val="dk1"/>
                </a:solidFill>
                <a:latin typeface="Schibsted Grotesk"/>
                <a:ea typeface="Schibsted Grotesk"/>
                <a:cs typeface="Schibsted Grotesk"/>
                <a:sym typeface="Schibsted Grotesk"/>
              </a:rPr>
              <a:t>Our broker is actively working the market, and there are several prospects at various early stages of engagement. None are close to a lease at this time, and we want to be careful not to get ahead of conversations that are still very preliminary. We will report back as any of these develop into something more concrete.</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rPr lang="en" sz="1000">
                <a:solidFill>
                  <a:schemeClr val="dk1"/>
                </a:solidFill>
                <a:latin typeface="Schibsted Grotesk"/>
                <a:ea typeface="Schibsted Grotesk"/>
                <a:cs typeface="Schibsted Grotesk"/>
                <a:sym typeface="Schibsted Grotesk"/>
              </a:rPr>
              <a:t>Our strategy remains the same: hold, push on leasing, and allow the market time to recover. We are closely monitoring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000">
              <a:solidFill>
                <a:schemeClr val="dk1"/>
              </a:solidFill>
              <a:latin typeface="Schibsted Grotesk"/>
              <a:ea typeface="Schibsted Grotesk"/>
              <a:cs typeface="Schibsted Grotesk"/>
              <a:sym typeface="Schibsted Grotesk"/>
            </a:endParaRPr>
          </a:p>
        </p:txBody>
      </p:sp>
      <p:sp>
        <p:nvSpPr>
          <p:cNvPr id="95" name="Google Shape;95;p8"/>
          <p:cNvSpPr txBox="1"/>
          <p:nvPr>
            <p:ph idx="12" type="sldNum"/>
          </p:nvPr>
        </p:nvSpPr>
        <p:spPr>
          <a:xfrm>
            <a:off x="7135793" y="9616501"/>
            <a:ext cx="334800" cy="153900"/>
          </a:xfrm>
          <a:prstGeom prst="rect">
            <a:avLst/>
          </a:prstGeom>
        </p:spPr>
        <p:txBody>
          <a:bodyPr anchorCtr="0" anchor="ctr"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pic>
        <p:nvPicPr>
          <p:cNvPr id="96" name="Google Shape;96;p8" title="MAX_0002.jpg"/>
          <p:cNvPicPr preferRelativeResize="0"/>
          <p:nvPr>
            <p:ph idx="2" type="pic"/>
          </p:nvPr>
        </p:nvPicPr>
        <p:blipFill rotWithShape="1">
          <a:blip r:embed="rId3">
            <a:alphaModFix/>
          </a:blip>
          <a:srcRect b="15575" l="6717" r="6717" t="-3226"/>
          <a:stretch/>
        </p:blipFill>
        <p:spPr>
          <a:xfrm>
            <a:off x="3402130" y="1034800"/>
            <a:ext cx="3804000" cy="2567100"/>
          </a:xfrm>
          <a:prstGeom prst="roundRect">
            <a:avLst>
              <a:gd fmla="val 16667" name="adj"/>
            </a:avLst>
          </a:prstGeom>
        </p:spPr>
      </p:pic>
      <p:sp>
        <p:nvSpPr>
          <p:cNvPr id="97" name="Google Shape;97;p8"/>
          <p:cNvSpPr txBox="1"/>
          <p:nvPr/>
        </p:nvSpPr>
        <p:spPr>
          <a:xfrm>
            <a:off x="551250" y="1021010"/>
            <a:ext cx="2652900" cy="138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2200">
                <a:solidFill>
                  <a:schemeClr val="dk2"/>
                </a:solidFill>
                <a:latin typeface="Merriweather Light"/>
                <a:ea typeface="Merriweather Light"/>
                <a:cs typeface="Merriweather Light"/>
                <a:sym typeface="Merriweather Light"/>
              </a:rPr>
              <a:t>Q1 2026 Update</a:t>
            </a:r>
            <a:endParaRPr sz="2200">
              <a:solidFill>
                <a:schemeClr val="dk2"/>
              </a:solidFill>
              <a:latin typeface="Merriweather Light"/>
              <a:ea typeface="Merriweather Light"/>
              <a:cs typeface="Merriweather Light"/>
              <a:sym typeface="Merriweather Light"/>
            </a:endParaRPr>
          </a:p>
          <a:p>
            <a:pPr indent="0" lvl="0" marL="0" rtl="0" algn="l">
              <a:spcBef>
                <a:spcPts val="0"/>
              </a:spcBef>
              <a:spcAft>
                <a:spcPts val="0"/>
              </a:spcAft>
              <a:buClr>
                <a:schemeClr val="dk1"/>
              </a:buClr>
              <a:buSzPts val="1100"/>
              <a:buFont typeface="Arial"/>
              <a:buNone/>
            </a:pPr>
            <a:r>
              <a:rPr lang="en" sz="2200">
                <a:solidFill>
                  <a:schemeClr val="dk1"/>
                </a:solidFill>
                <a:latin typeface="Merriweather Light"/>
                <a:ea typeface="Merriweather Light"/>
                <a:cs typeface="Merriweather Light"/>
                <a:sym typeface="Merriweather Light"/>
              </a:rPr>
              <a:t>1820 Aguila Azteca LLC</a:t>
            </a:r>
            <a:endParaRPr sz="2200">
              <a:solidFill>
                <a:schemeClr val="dk1"/>
              </a:solidFill>
              <a:latin typeface="Merriweather Light"/>
              <a:ea typeface="Merriweather Light"/>
              <a:cs typeface="Merriweather Light"/>
              <a:sym typeface="Merriweather Light"/>
            </a:endParaRPr>
          </a:p>
        </p:txBody>
      </p:sp>
      <p:sp>
        <p:nvSpPr>
          <p:cNvPr id="98" name="Google Shape;98;p8"/>
          <p:cNvSpPr txBox="1"/>
          <p:nvPr/>
        </p:nvSpPr>
        <p:spPr>
          <a:xfrm>
            <a:off x="3409675" y="3861602"/>
            <a:ext cx="2102700" cy="204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300">
                <a:solidFill>
                  <a:schemeClr val="dk2"/>
                </a:solidFill>
                <a:latin typeface="Source Code Pro SemiBold"/>
                <a:ea typeface="Source Code Pro SemiBold"/>
                <a:cs typeface="Source Code Pro SemiBold"/>
                <a:sym typeface="Source Code Pro SemiBold"/>
              </a:rPr>
              <a:t>PROJECT DETAILS</a:t>
            </a:r>
            <a:endParaRPr sz="1300">
              <a:solidFill>
                <a:schemeClr val="dk2"/>
              </a:solidFill>
              <a:latin typeface="Source Code Pro SemiBold"/>
              <a:ea typeface="Source Code Pro SemiBold"/>
              <a:cs typeface="Source Code Pro SemiBold"/>
              <a:sym typeface="Source Code Pro SemiBold"/>
            </a:endParaRPr>
          </a:p>
          <a:p>
            <a:pPr indent="0" lvl="0" marL="0" rtl="0" algn="l">
              <a:spcBef>
                <a:spcPts val="0"/>
              </a:spcBef>
              <a:spcAft>
                <a:spcPts val="0"/>
              </a:spcAft>
              <a:buNone/>
            </a:pPr>
            <a:r>
              <a:t/>
            </a:r>
            <a:endParaRPr sz="12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Address</a:t>
            </a:r>
            <a:endParaRPr sz="12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1820 Aguila Azteca Dr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Laredo, TX 78043</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Purchase date</a:t>
            </a:r>
            <a:endParaRPr sz="12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4/24/2025</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Purchase price</a:t>
            </a:r>
            <a:endParaRPr sz="12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$12,960,000</a:t>
            </a:r>
            <a:endParaRPr sz="1200">
              <a:solidFill>
                <a:schemeClr val="dk1"/>
              </a:solidFill>
              <a:latin typeface="Schibsted Grotesk"/>
              <a:ea typeface="Schibsted Grotesk"/>
              <a:cs typeface="Schibsted Grotesk"/>
              <a:sym typeface="Schibsted Grotesk"/>
            </a:endParaRPr>
          </a:p>
        </p:txBody>
      </p:sp>
      <p:sp>
        <p:nvSpPr>
          <p:cNvPr id="99" name="Google Shape;99;p8"/>
          <p:cNvSpPr txBox="1"/>
          <p:nvPr/>
        </p:nvSpPr>
        <p:spPr>
          <a:xfrm>
            <a:off x="5652175" y="4246515"/>
            <a:ext cx="15453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Size</a:t>
            </a:r>
            <a:endParaRPr sz="12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108,248 sq ft</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Number of units</a:t>
            </a:r>
            <a:endParaRPr sz="12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2</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rPr lang="en" sz="1200">
                <a:solidFill>
                  <a:schemeClr val="dk1"/>
                </a:solidFill>
                <a:latin typeface="Schibsted Grotesk SemiBold"/>
                <a:ea typeface="Schibsted Grotesk SemiBold"/>
                <a:cs typeface="Schibsted Grotesk SemiBold"/>
                <a:sym typeface="Schibsted Grotesk SemiBold"/>
              </a:rPr>
              <a:t>Year built</a:t>
            </a:r>
            <a:endParaRPr sz="1200">
              <a:solidFill>
                <a:schemeClr val="dk1"/>
              </a:solidFill>
              <a:latin typeface="Schibsted Grotesk Medium"/>
              <a:ea typeface="Schibsted Grotesk Medium"/>
              <a:cs typeface="Schibsted Grotesk Medium"/>
              <a:sym typeface="Schibsted Grotesk Medium"/>
            </a:endParaRPr>
          </a:p>
          <a:p>
            <a:pPr indent="0" lvl="0" marL="0" rtl="0" algn="l">
              <a:spcBef>
                <a:spcPts val="0"/>
              </a:spcBef>
              <a:spcAft>
                <a:spcPts val="0"/>
              </a:spcAft>
              <a:buNone/>
            </a:pPr>
            <a:r>
              <a:rPr lang="en" sz="1200">
                <a:solidFill>
                  <a:schemeClr val="dk1"/>
                </a:solidFill>
                <a:latin typeface="Schibsted Grotesk"/>
                <a:ea typeface="Schibsted Grotesk"/>
                <a:cs typeface="Schibsted Grotesk"/>
                <a:sym typeface="Schibsted Grotesk"/>
              </a:rPr>
              <a:t>2000</a:t>
            </a:r>
            <a:endParaRPr sz="1800">
              <a:solidFill>
                <a:schemeClr val="dk2"/>
              </a:solidFill>
              <a:latin typeface="Schibsted Grotesk"/>
              <a:ea typeface="Schibsted Grotesk"/>
              <a:cs typeface="Schibsted Grotesk"/>
              <a:sym typeface="Schibsted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9"/>
          <p:cNvSpPr txBox="1"/>
          <p:nvPr/>
        </p:nvSpPr>
        <p:spPr>
          <a:xfrm>
            <a:off x="306575" y="935775"/>
            <a:ext cx="7161000" cy="417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Schibsted Grotesk"/>
                <a:ea typeface="Schibsted Grotesk"/>
                <a:cs typeface="Schibsted Grotesk"/>
                <a:sym typeface="Schibsted Grotesk"/>
              </a:rPr>
              <a:t>U.S.-Mexico trade negotiations and believe that clarity on trade policy will be the unlock for this market.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rPr lang="en" sz="1700">
                <a:solidFill>
                  <a:schemeClr val="dk1"/>
                </a:solidFill>
                <a:latin typeface="Merriweather Light"/>
                <a:ea typeface="Merriweather Light"/>
                <a:cs typeface="Merriweather Light"/>
                <a:sym typeface="Merriweather Light"/>
              </a:rPr>
              <a:t>Financial Updates</a:t>
            </a:r>
            <a:endParaRPr sz="1700">
              <a:solidFill>
                <a:schemeClr val="dk1"/>
              </a:solidFill>
              <a:latin typeface="Merriweather Light"/>
              <a:ea typeface="Merriweather Light"/>
              <a:cs typeface="Merriweather Light"/>
              <a:sym typeface="Merriweather Light"/>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Clr>
                <a:schemeClr val="dk1"/>
              </a:buClr>
              <a:buSzPts val="1100"/>
              <a:buFont typeface="Arial"/>
              <a:buNone/>
            </a:pPr>
            <a:r>
              <a:rPr lang="en" sz="1000">
                <a:solidFill>
                  <a:schemeClr val="dk1"/>
                </a:solidFill>
                <a:latin typeface="Schibsted Grotesk"/>
                <a:ea typeface="Schibsted Grotesk"/>
                <a:cs typeface="Schibsted Grotesk"/>
                <a:sym typeface="Schibsted Grotesk"/>
              </a:rPr>
              <a:t>As of writing this update, the total cash and reserve balance is </a:t>
            </a:r>
            <a:r>
              <a:rPr lang="en" sz="1000">
                <a:solidFill>
                  <a:schemeClr val="dk1"/>
                </a:solidFill>
                <a:latin typeface="Schibsted Grotesk"/>
                <a:ea typeface="Schibsted Grotesk"/>
                <a:cs typeface="Schibsted Grotesk"/>
                <a:sym typeface="Schibsted Grotesk"/>
              </a:rPr>
              <a:t>$453,199</a:t>
            </a:r>
            <a:r>
              <a:rPr lang="en" sz="1000">
                <a:solidFill>
                  <a:schemeClr val="dk1"/>
                </a:solidFill>
                <a:latin typeface="Schibsted Grotesk"/>
                <a:ea typeface="Schibsted Grotesk"/>
                <a:cs typeface="Schibsted Grotesk"/>
                <a:sym typeface="Schibsted Grotesk"/>
              </a:rPr>
              <a:t>. Financials for this investment have been uploaded to the </a:t>
            </a:r>
            <a:r>
              <a:rPr lang="en" sz="1000" u="sng">
                <a:solidFill>
                  <a:srgbClr val="9FB4F3"/>
                </a:solidFill>
                <a:latin typeface="Schibsted Grotesk"/>
                <a:ea typeface="Schibsted Grotesk"/>
                <a:cs typeface="Schibsted Grotesk"/>
                <a:sym typeface="Schibsted Grotesk"/>
                <a:hlinkClick r:id="rId4">
                  <a:extLst>
                    <a:ext uri="{A12FA001-AC4F-418D-AE19-62706E023703}">
                      <ahyp:hlinkClr val="tx"/>
                    </a:ext>
                  </a:extLst>
                </a:hlinkClick>
              </a:rPr>
              <a:t>investor portal</a:t>
            </a:r>
            <a:r>
              <a:rPr lang="en" sz="1000">
                <a:solidFill>
                  <a:srgbClr val="9FB4F3"/>
                </a:solidFill>
                <a:latin typeface="Schibsted Grotesk"/>
                <a:ea typeface="Schibsted Grotesk"/>
                <a:cs typeface="Schibsted Grotesk"/>
                <a:sym typeface="Schibsted Grotesk"/>
              </a:rPr>
              <a:t> </a:t>
            </a:r>
            <a:r>
              <a:rPr lang="en" sz="1000">
                <a:solidFill>
                  <a:schemeClr val="dk1"/>
                </a:solidFill>
                <a:latin typeface="Schibsted Grotesk"/>
                <a:ea typeface="Schibsted Grotesk"/>
                <a:cs typeface="Schibsted Grotesk"/>
                <a:sym typeface="Schibsted Grotesk"/>
              </a:rPr>
              <a:t>for you to view.</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t/>
            </a:r>
            <a:endParaRPr sz="10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Clr>
                <a:schemeClr val="dk1"/>
              </a:buClr>
              <a:buSzPts val="1100"/>
              <a:buFont typeface="Arial"/>
              <a:buNone/>
            </a:pPr>
            <a:r>
              <a:rPr lang="en" sz="1700">
                <a:solidFill>
                  <a:schemeClr val="dk1"/>
                </a:solidFill>
                <a:latin typeface="Merriweather Light"/>
                <a:ea typeface="Merriweather Light"/>
                <a:cs typeface="Merriweather Light"/>
                <a:sym typeface="Merriweather Light"/>
              </a:rPr>
              <a:t>What We’re Reading</a:t>
            </a:r>
            <a:endParaRPr i="1" sz="1700">
              <a:solidFill>
                <a:schemeClr val="dk1"/>
              </a:solidFill>
              <a:latin typeface="Schibsted Grotesk Medium"/>
              <a:ea typeface="Schibsted Grotesk Medium"/>
              <a:cs typeface="Schibsted Grotesk Medium"/>
              <a:sym typeface="Schibsted Grotesk Medium"/>
            </a:endParaRPr>
          </a:p>
          <a:p>
            <a:pPr indent="0" lvl="0" marL="457200" rtl="0" algn="l">
              <a:lnSpc>
                <a:spcPct val="115000"/>
              </a:lnSpc>
              <a:spcBef>
                <a:spcPts val="0"/>
              </a:spcBef>
              <a:spcAft>
                <a:spcPts val="0"/>
              </a:spcAft>
              <a:buNone/>
            </a:pPr>
            <a:r>
              <a:t/>
            </a:r>
            <a:endParaRPr i="1" sz="1000">
              <a:solidFill>
                <a:schemeClr val="dk1"/>
              </a:solidFill>
              <a:latin typeface="Schibsted Grotesk"/>
              <a:ea typeface="Schibsted Grotesk"/>
              <a:cs typeface="Schibsted Grotesk"/>
              <a:sym typeface="Schibsted Grotesk"/>
            </a:endParaRPr>
          </a:p>
          <a:p>
            <a:pPr indent="-292100" lvl="0" marL="457200" rtl="0" algn="l">
              <a:spcBef>
                <a:spcPts val="0"/>
              </a:spcBef>
              <a:spcAft>
                <a:spcPts val="0"/>
              </a:spcAft>
              <a:buClr>
                <a:srgbClr val="9FB4F3"/>
              </a:buClr>
              <a:buSzPts val="1000"/>
              <a:buFont typeface="Schibsted Grotesk"/>
              <a:buChar char="●"/>
            </a:pPr>
            <a:r>
              <a:rPr lang="en" sz="1000" u="sng">
                <a:solidFill>
                  <a:srgbClr val="9FB4F3"/>
                </a:solidFill>
                <a:latin typeface="Schibsted Grotesk"/>
                <a:ea typeface="Schibsted Grotesk"/>
                <a:cs typeface="Schibsted Grotesk"/>
                <a:sym typeface="Schibsted Grotesk"/>
                <a:hlinkClick r:id="rId5">
                  <a:extLst>
                    <a:ext uri="{A12FA001-AC4F-418D-AE19-62706E023703}">
                      <ahyp:hlinkClr val="tx"/>
                    </a:ext>
                  </a:extLst>
                </a:hlinkClick>
              </a:rPr>
              <a:t>March 2026 Industrial Report: The Massive Restructuring of Retail Fulfillment</a:t>
            </a:r>
            <a:endParaRPr sz="1000">
              <a:solidFill>
                <a:srgbClr val="9FB4F3"/>
              </a:solidFill>
              <a:latin typeface="Schibsted Grotesk"/>
              <a:ea typeface="Schibsted Grotesk"/>
              <a:cs typeface="Schibsted Grotesk"/>
              <a:sym typeface="Schibsted Grotesk"/>
            </a:endParaRPr>
          </a:p>
          <a:p>
            <a:pPr indent="457200" lvl="0" marL="0" rtl="0" algn="l">
              <a:lnSpc>
                <a:spcPct val="115000"/>
              </a:lnSpc>
              <a:spcBef>
                <a:spcPts val="0"/>
              </a:spcBef>
              <a:spcAft>
                <a:spcPts val="0"/>
              </a:spcAft>
              <a:buNone/>
            </a:pPr>
            <a:r>
              <a:rPr i="1" lang="en" sz="1000">
                <a:solidFill>
                  <a:srgbClr val="0E0E0E"/>
                </a:solidFill>
                <a:latin typeface="Schibsted Grotesk"/>
                <a:ea typeface="Schibsted Grotesk"/>
                <a:cs typeface="Schibsted Grotesk"/>
                <a:sym typeface="Schibsted Grotesk"/>
              </a:rPr>
              <a:t>- Commercial Cafe, March 2026</a:t>
            </a:r>
            <a:endParaRPr b="1" sz="1100"/>
          </a:p>
          <a:p>
            <a:pPr indent="-292100" lvl="0" marL="457200" rtl="0" algn="l">
              <a:spcBef>
                <a:spcPts val="0"/>
              </a:spcBef>
              <a:spcAft>
                <a:spcPts val="0"/>
              </a:spcAft>
              <a:buClr>
                <a:srgbClr val="9FB4F3"/>
              </a:buClr>
              <a:buSzPts val="1000"/>
              <a:buFont typeface="Schibsted Grotesk"/>
              <a:buChar char="●"/>
            </a:pPr>
            <a:r>
              <a:rPr lang="en" sz="1000" u="sng">
                <a:solidFill>
                  <a:srgbClr val="9FB4F3"/>
                </a:solidFill>
                <a:latin typeface="Schibsted Grotesk"/>
                <a:ea typeface="Schibsted Grotesk"/>
                <a:cs typeface="Schibsted Grotesk"/>
                <a:sym typeface="Schibsted Grotesk"/>
                <a:hlinkClick r:id="rId6">
                  <a:extLst>
                    <a:ext uri="{A12FA001-AC4F-418D-AE19-62706E023703}">
                      <ahyp:hlinkClr val="tx"/>
                    </a:ext>
                  </a:extLst>
                </a:hlinkClick>
              </a:rPr>
              <a:t>Peak Industrial Vacancy Likely in Rearview Mirror as Demand Holds and Supply Slows</a:t>
            </a:r>
            <a:endParaRPr sz="1000">
              <a:solidFill>
                <a:srgbClr val="9FB4F3"/>
              </a:solidFill>
              <a:latin typeface="Schibsted Grotesk"/>
              <a:ea typeface="Schibsted Grotesk"/>
              <a:cs typeface="Schibsted Grotesk"/>
              <a:sym typeface="Schibsted Grotesk"/>
            </a:endParaRPr>
          </a:p>
          <a:p>
            <a:pPr indent="457200" lvl="0" marL="0" rtl="0" algn="l">
              <a:spcBef>
                <a:spcPts val="0"/>
              </a:spcBef>
              <a:spcAft>
                <a:spcPts val="0"/>
              </a:spcAft>
              <a:buNone/>
            </a:pPr>
            <a:r>
              <a:rPr i="1" lang="en" sz="1000">
                <a:solidFill>
                  <a:srgbClr val="0E0E0E"/>
                </a:solidFill>
                <a:latin typeface="Schibsted Grotesk"/>
                <a:ea typeface="Schibsted Grotesk"/>
                <a:cs typeface="Schibsted Grotesk"/>
                <a:sym typeface="Schibsted Grotesk"/>
              </a:rPr>
              <a:t>- Cushman &amp; Wakefield, April 2026</a:t>
            </a:r>
            <a:endParaRPr sz="1000">
              <a:solidFill>
                <a:srgbClr val="2A3F37"/>
              </a:solidFill>
              <a:latin typeface="Schibsted Grotesk"/>
              <a:ea typeface="Schibsted Grotesk"/>
              <a:cs typeface="Schibsted Grotesk"/>
              <a:sym typeface="Schibsted Grotesk"/>
            </a:endParaRPr>
          </a:p>
          <a:p>
            <a:pPr indent="-292100" lvl="0" marL="457200" rtl="0" algn="l">
              <a:spcBef>
                <a:spcPts val="0"/>
              </a:spcBef>
              <a:spcAft>
                <a:spcPts val="0"/>
              </a:spcAft>
              <a:buClr>
                <a:srgbClr val="9FB4F3"/>
              </a:buClr>
              <a:buSzPts val="1000"/>
              <a:buFont typeface="Schibsted Grotesk"/>
              <a:buChar char="●"/>
            </a:pPr>
            <a:r>
              <a:rPr lang="en" sz="1000" u="sng">
                <a:solidFill>
                  <a:srgbClr val="9FB4F3"/>
                </a:solidFill>
                <a:latin typeface="Schibsted Grotesk"/>
                <a:ea typeface="Schibsted Grotesk"/>
                <a:cs typeface="Schibsted Grotesk"/>
                <a:sym typeface="Schibsted Grotesk"/>
                <a:hlinkClick r:id="rId7">
                  <a:extLst>
                    <a:ext uri="{A12FA001-AC4F-418D-AE19-62706E023703}">
                      <ahyp:hlinkClr val="tx"/>
                    </a:ext>
                  </a:extLst>
                </a:hlinkClick>
              </a:rPr>
              <a:t>Elevated Costs And Complicated Cap Stacks Can't Stop DFW Deals From Getting Done</a:t>
            </a:r>
            <a:endParaRPr sz="1000">
              <a:solidFill>
                <a:srgbClr val="9FB4F3"/>
              </a:solidFill>
              <a:latin typeface="Schibsted Grotesk"/>
              <a:ea typeface="Schibsted Grotesk"/>
              <a:cs typeface="Schibsted Grotesk"/>
              <a:sym typeface="Schibsted Grotesk"/>
            </a:endParaRPr>
          </a:p>
          <a:p>
            <a:pPr indent="457200" lvl="0" marL="0" rtl="0" algn="l">
              <a:spcBef>
                <a:spcPts val="0"/>
              </a:spcBef>
              <a:spcAft>
                <a:spcPts val="0"/>
              </a:spcAft>
              <a:buNone/>
            </a:pPr>
            <a:r>
              <a:rPr i="1" lang="en" sz="1000">
                <a:solidFill>
                  <a:srgbClr val="0E0E0E"/>
                </a:solidFill>
                <a:latin typeface="Schibsted Grotesk"/>
                <a:ea typeface="Schibsted Grotesk"/>
                <a:cs typeface="Schibsted Grotesk"/>
                <a:sym typeface="Schibsted Grotesk"/>
              </a:rPr>
              <a:t>- Bisnow, April 2026</a:t>
            </a:r>
            <a:endParaRPr i="1" sz="1000">
              <a:solidFill>
                <a:srgbClr val="0E0E0E"/>
              </a:solidFill>
              <a:latin typeface="Schibsted Grotesk"/>
              <a:ea typeface="Schibsted Grotesk"/>
              <a:cs typeface="Schibsted Grotesk"/>
              <a:sym typeface="Schibsted Grotesk"/>
            </a:endParaRPr>
          </a:p>
          <a:p>
            <a:pPr indent="-292100" lvl="0" marL="457200" rtl="0" algn="l">
              <a:spcBef>
                <a:spcPts val="0"/>
              </a:spcBef>
              <a:spcAft>
                <a:spcPts val="0"/>
              </a:spcAft>
              <a:buClr>
                <a:srgbClr val="9FB4F3"/>
              </a:buClr>
              <a:buSzPts val="1000"/>
              <a:buFont typeface="Schibsted Grotesk"/>
              <a:buChar char="●"/>
            </a:pPr>
            <a:r>
              <a:rPr lang="en" sz="1000" u="sng">
                <a:solidFill>
                  <a:srgbClr val="9FB4F3"/>
                </a:solidFill>
                <a:latin typeface="Schibsted Grotesk"/>
                <a:ea typeface="Schibsted Grotesk"/>
                <a:cs typeface="Schibsted Grotesk"/>
                <a:sym typeface="Schibsted Grotesk"/>
                <a:hlinkClick r:id="rId8">
                  <a:extLst>
                    <a:ext uri="{A12FA001-AC4F-418D-AE19-62706E023703}">
                      <ahyp:hlinkClr val="tx"/>
                    </a:ext>
                  </a:extLst>
                </a:hlinkClick>
              </a:rPr>
              <a:t>2026 Texas Real Estate Forecast</a:t>
            </a:r>
            <a:endParaRPr sz="1000">
              <a:solidFill>
                <a:srgbClr val="9FB4F3"/>
              </a:solidFill>
              <a:latin typeface="Schibsted Grotesk"/>
              <a:ea typeface="Schibsted Grotesk"/>
              <a:cs typeface="Schibsted Grotesk"/>
              <a:sym typeface="Schibsted Grotesk"/>
            </a:endParaRPr>
          </a:p>
          <a:p>
            <a:pPr indent="457200" lvl="0" marL="0" rtl="0" algn="l">
              <a:lnSpc>
                <a:spcPct val="115000"/>
              </a:lnSpc>
              <a:spcBef>
                <a:spcPts val="0"/>
              </a:spcBef>
              <a:spcAft>
                <a:spcPts val="0"/>
              </a:spcAft>
              <a:buNone/>
            </a:pPr>
            <a:r>
              <a:rPr i="1" lang="en" sz="1000">
                <a:solidFill>
                  <a:srgbClr val="0E0E0E"/>
                </a:solidFill>
                <a:latin typeface="Schibsted Grotesk"/>
                <a:ea typeface="Schibsted Grotesk"/>
                <a:cs typeface="Schibsted Grotesk"/>
                <a:sym typeface="Schibsted Grotesk"/>
              </a:rPr>
              <a:t>- Texas Real Estate Research Center, TAMU, January 2026</a:t>
            </a:r>
            <a:endParaRPr sz="1000">
              <a:solidFill>
                <a:srgbClr val="0E0E0E"/>
              </a:solidFill>
              <a:latin typeface="Schibsted Grotesk"/>
              <a:ea typeface="Schibsted Grotesk"/>
              <a:cs typeface="Schibsted Grotesk"/>
              <a:sym typeface="Schibsted Grotesk"/>
            </a:endParaRPr>
          </a:p>
          <a:p>
            <a:pPr indent="0" lvl="0" marL="457200" rtl="0" algn="l">
              <a:lnSpc>
                <a:spcPct val="115000"/>
              </a:lnSpc>
              <a:spcBef>
                <a:spcPts val="0"/>
              </a:spcBef>
              <a:spcAft>
                <a:spcPts val="0"/>
              </a:spcAft>
              <a:buNone/>
            </a:pPr>
            <a:r>
              <a:t/>
            </a:r>
            <a:endParaRPr sz="1000">
              <a:solidFill>
                <a:schemeClr val="dk1"/>
              </a:solidFill>
              <a:latin typeface="Schibsted Grotesk SemiBold"/>
              <a:ea typeface="Schibsted Grotesk SemiBold"/>
              <a:cs typeface="Schibsted Grotesk SemiBold"/>
              <a:sym typeface="Schibsted Grotesk SemiBold"/>
            </a:endParaRPr>
          </a:p>
          <a:p>
            <a:pPr indent="0" lvl="0" marL="0" rtl="0" algn="l">
              <a:spcBef>
                <a:spcPts val="0"/>
              </a:spcBef>
              <a:spcAft>
                <a:spcPts val="0"/>
              </a:spcAft>
              <a:buClr>
                <a:schemeClr val="dk1"/>
              </a:buClr>
              <a:buSzPts val="1100"/>
              <a:buFont typeface="Arial"/>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p:txBody>
      </p:sp>
      <p:sp>
        <p:nvSpPr>
          <p:cNvPr id="105" name="Google Shape;105;p9"/>
          <p:cNvSpPr txBox="1"/>
          <p:nvPr>
            <p:ph idx="12" type="sldNum"/>
          </p:nvPr>
        </p:nvSpPr>
        <p:spPr>
          <a:xfrm>
            <a:off x="7135793" y="9616501"/>
            <a:ext cx="334800" cy="153900"/>
          </a:xfrm>
          <a:prstGeom prst="rect">
            <a:avLst/>
          </a:prstGeom>
        </p:spPr>
        <p:txBody>
          <a:bodyPr anchorCtr="0" anchor="ctr"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sp>
        <p:nvSpPr>
          <p:cNvPr id="106" name="Google Shape;106;p9"/>
          <p:cNvSpPr txBox="1"/>
          <p:nvPr/>
        </p:nvSpPr>
        <p:spPr>
          <a:xfrm>
            <a:off x="5197498" y="301800"/>
            <a:ext cx="2277300" cy="461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 sz="1000">
                <a:solidFill>
                  <a:schemeClr val="dk2"/>
                </a:solidFill>
                <a:latin typeface="Schibsted Grotesk"/>
                <a:ea typeface="Schibsted Grotesk"/>
                <a:cs typeface="Schibsted Grotesk"/>
                <a:sym typeface="Schibsted Grotesk"/>
              </a:rPr>
              <a:t>Q1 2026 Update</a:t>
            </a:r>
            <a:endParaRPr b="1" sz="1000">
              <a:solidFill>
                <a:schemeClr val="dk2"/>
              </a:solidFill>
              <a:latin typeface="Schibsted Grotesk"/>
              <a:ea typeface="Schibsted Grotesk"/>
              <a:cs typeface="Schibsted Grotesk"/>
              <a:sym typeface="Schibsted Grotesk"/>
            </a:endParaRPr>
          </a:p>
          <a:p>
            <a:pPr indent="0" lvl="0" marL="0" rtl="0" algn="r">
              <a:spcBef>
                <a:spcPts val="0"/>
              </a:spcBef>
              <a:spcAft>
                <a:spcPts val="0"/>
              </a:spcAft>
              <a:buNone/>
            </a:pPr>
            <a:r>
              <a:rPr lang="en" sz="1000">
                <a:solidFill>
                  <a:schemeClr val="dk2"/>
                </a:solidFill>
                <a:latin typeface="Schibsted Grotesk"/>
                <a:ea typeface="Schibsted Grotesk"/>
                <a:cs typeface="Schibsted Grotesk"/>
                <a:sym typeface="Schibsted Grotesk"/>
              </a:rPr>
              <a:t>1820 Aguila Azteca LLC</a:t>
            </a:r>
            <a:endParaRPr sz="1000">
              <a:solidFill>
                <a:schemeClr val="dk2"/>
              </a:solidFill>
              <a:latin typeface="Schibsted Grotesk"/>
              <a:ea typeface="Schibsted Grotesk"/>
              <a:cs typeface="Schibsted Grotesk"/>
              <a:sym typeface="Schibsted Grotesk"/>
            </a:endParaRPr>
          </a:p>
          <a:p>
            <a:pPr indent="0" lvl="0" marL="0" rtl="0" algn="r">
              <a:spcBef>
                <a:spcPts val="0"/>
              </a:spcBef>
              <a:spcAft>
                <a:spcPts val="0"/>
              </a:spcAft>
              <a:buNone/>
            </a:pPr>
            <a:r>
              <a:t/>
            </a:r>
            <a:endParaRPr b="1" sz="1000">
              <a:solidFill>
                <a:schemeClr val="dk2"/>
              </a:solidFill>
              <a:latin typeface="Schibsted Grotesk"/>
              <a:ea typeface="Schibsted Grotesk"/>
              <a:cs typeface="Schibsted Grotesk"/>
              <a:sym typeface="Schibsted Grotes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0"/>
          <p:cNvSpPr txBox="1"/>
          <p:nvPr/>
        </p:nvSpPr>
        <p:spPr>
          <a:xfrm>
            <a:off x="306575" y="935775"/>
            <a:ext cx="7161000" cy="417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700">
                <a:solidFill>
                  <a:schemeClr val="dk1"/>
                </a:solidFill>
                <a:latin typeface="Merriweather Light"/>
                <a:ea typeface="Merriweather Light"/>
                <a:cs typeface="Merriweather Light"/>
                <a:sym typeface="Merriweather Light"/>
              </a:rPr>
              <a:t>Q1 Market Update: Laredo</a:t>
            </a:r>
            <a:endParaRPr sz="1700">
              <a:solidFill>
                <a:schemeClr val="dk1"/>
              </a:solidFill>
              <a:latin typeface="Merriweather Light"/>
              <a:ea typeface="Merriweather Light"/>
              <a:cs typeface="Merriweather Light"/>
              <a:sym typeface="Merriweather Light"/>
            </a:endParaRPr>
          </a:p>
          <a:p>
            <a:pPr indent="0" lvl="0" marL="0" rtl="0" algn="l">
              <a:spcBef>
                <a:spcPts val="0"/>
              </a:spcBef>
              <a:spcAft>
                <a:spcPts val="0"/>
              </a:spcAft>
              <a:buClr>
                <a:schemeClr val="dk1"/>
              </a:buClr>
              <a:buSzPts val="1100"/>
              <a:buFont typeface="Arial"/>
              <a:buNone/>
            </a:pPr>
            <a:r>
              <a:t/>
            </a:r>
            <a:endParaRPr i="1" sz="1700">
              <a:solidFill>
                <a:schemeClr val="dk1"/>
              </a:solidFill>
              <a:latin typeface="Spectral Medium"/>
              <a:ea typeface="Spectral Medium"/>
              <a:cs typeface="Spectral Medium"/>
              <a:sym typeface="Spectral Medium"/>
            </a:endParaRPr>
          </a:p>
          <a:p>
            <a:pPr indent="0" lvl="0" marL="0" rtl="0" algn="l">
              <a:spcBef>
                <a:spcPts val="0"/>
              </a:spcBef>
              <a:spcAft>
                <a:spcPts val="0"/>
              </a:spcAft>
              <a:buClr>
                <a:schemeClr val="dk1"/>
              </a:buClr>
              <a:buSzPts val="1100"/>
              <a:buFont typeface="Arial"/>
              <a:buNone/>
            </a:pPr>
            <a:r>
              <a:rPr b="1" lang="en" sz="1000">
                <a:solidFill>
                  <a:schemeClr val="dk1"/>
                </a:solidFill>
                <a:latin typeface="Inter"/>
                <a:ea typeface="Inter"/>
                <a:cs typeface="Inter"/>
                <a:sym typeface="Inter"/>
              </a:rPr>
              <a:t>Market overview</a:t>
            </a:r>
            <a:endParaRPr b="1" sz="1000">
              <a:solidFill>
                <a:schemeClr val="dk1"/>
              </a:solidFill>
              <a:latin typeface="Inter"/>
              <a:ea typeface="Inter"/>
              <a:cs typeface="Inter"/>
              <a:sym typeface="Inter"/>
            </a:endParaRPr>
          </a:p>
          <a:p>
            <a:pPr indent="0" lvl="0" marL="0" rtl="0" algn="l">
              <a:spcBef>
                <a:spcPts val="0"/>
              </a:spcBef>
              <a:spcAft>
                <a:spcPts val="0"/>
              </a:spcAft>
              <a:buNone/>
            </a:pPr>
            <a:r>
              <a:t/>
            </a:r>
            <a:endParaRPr sz="1000">
              <a:solidFill>
                <a:schemeClr val="dk1"/>
              </a:solidFill>
              <a:latin typeface="Inter SemiBold"/>
              <a:ea typeface="Inter SemiBold"/>
              <a:cs typeface="Inter SemiBold"/>
              <a:sym typeface="Inter SemiBold"/>
            </a:endParaRPr>
          </a:p>
          <a:p>
            <a:pPr indent="0" lvl="0" marL="0" rtl="0" algn="l">
              <a:spcBef>
                <a:spcPts val="0"/>
              </a:spcBef>
              <a:spcAft>
                <a:spcPts val="0"/>
              </a:spcAft>
              <a:buClr>
                <a:schemeClr val="dk1"/>
              </a:buClr>
              <a:buSzPts val="1100"/>
              <a:buFont typeface="Arial"/>
              <a:buNone/>
            </a:pPr>
            <a:r>
              <a:rPr lang="en" sz="1000">
                <a:solidFill>
                  <a:schemeClr val="dk1"/>
                </a:solidFill>
                <a:latin typeface="Inter"/>
                <a:ea typeface="Inter"/>
                <a:cs typeface="Inter"/>
                <a:sym typeface="Inter"/>
              </a:rPr>
              <a:t>Conditions in the Laredo industrial market deteriorated further in Q1, with vacancy climbing sharply to 19.6%, up from 12.1% at year-end 2025. The increase was driven by 3.7 million square feet of new deliveries that arrived with only 8.8% of space pre-committed, adding a significant volume of vacant product to a market already working through excess supply. Net absorption was effectively flat at just 16,000 square feet for the quarter, a sharp drop from the 248,000 square feet posted in Q4 2025. The market is not absorbing new supply.</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000">
                <a:solidFill>
                  <a:schemeClr val="dk1"/>
                </a:solidFill>
                <a:latin typeface="Inter"/>
                <a:ea typeface="Inter"/>
                <a:cs typeface="Inter"/>
                <a:sym typeface="Inter"/>
              </a:rPr>
              <a:t>The bifurcation between Class A and Class B product that defined Q4 has continued into 2026, but the numbers are starker. Class A space posted 84,000 square feet of positive absorption in Q1, while Class B recorded negative 146,000 square feet. Class A vacancy now sits at 44.7% across the market, a direct reflection of how much new, unleased product has delivered in recent quarters. Class B vacancy at 5.8% tells a different story: older, functional, infill product is proving more resilient, while the new speculative wave sits empty around it.</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 sz="1000">
                <a:solidFill>
                  <a:schemeClr val="dk1"/>
                </a:solidFill>
                <a:latin typeface="Inter"/>
                <a:ea typeface="Inter"/>
                <a:cs typeface="Inter"/>
                <a:sym typeface="Inter"/>
              </a:rPr>
              <a:t>The pipeline is a significant concern</a:t>
            </a:r>
            <a:endParaRPr b="1"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000">
                <a:solidFill>
                  <a:schemeClr val="dk1"/>
                </a:solidFill>
                <a:latin typeface="Inter"/>
                <a:ea typeface="Inter"/>
                <a:cs typeface="Inter"/>
                <a:sym typeface="Inter"/>
              </a:rPr>
              <a:t>An additional 6.7 million square feet of speculative product is underway for delivery over the next 18 months, currently 12.7% pre-leased to a single tenant in a build-to-suit arrangement. That means roughly 5.8 million square feet of additional speculative supply is coming to a market that absorbed just 16,000 square feet in Q1. The North submarket alone has 4.4 million square feet under construction, where Class A vacancy is already at 52.5%. Without a meaningful acceleration in leasing velocity, vacancy will move higher before it moves lower.</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 sz="1000">
                <a:solidFill>
                  <a:schemeClr val="dk1"/>
                </a:solidFill>
                <a:latin typeface="Inter"/>
                <a:ea typeface="Inter"/>
                <a:cs typeface="Inter"/>
                <a:sym typeface="Inter"/>
              </a:rPr>
              <a:t>Trade policy uncertainty continues to drive tenant behavior</a:t>
            </a:r>
            <a:endParaRPr b="1"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000">
                <a:solidFill>
                  <a:schemeClr val="dk1"/>
                </a:solidFill>
                <a:latin typeface="Inter"/>
                <a:ea typeface="Inter"/>
                <a:cs typeface="Inter"/>
                <a:sym typeface="Inter"/>
              </a:rPr>
              <a:t>The fundamental demand driver for Laredo industrial has not changed. The Port of Laredo handled nearly $354 billion in trade in 2025, and 15,000 trucks cross the World Trade Bridge daily. Cross-border infrastructure investment continues, with the proposed expansion of the World Trade Bridge from eight to 18 lanes and a new high-capacity international rail bridge both moving forward. The long-term case for Laredo as a logistics gateway remains intact.</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000">
                <a:solidFill>
                  <a:schemeClr val="dk1"/>
                </a:solidFill>
                <a:latin typeface="Inter"/>
                <a:ea typeface="Inter"/>
                <a:cs typeface="Inter"/>
                <a:sym typeface="Inter"/>
              </a:rPr>
              <a:t>What has changed is tenant willingness to act on that thesis. Occupiers continue to delay long-term space commitments in anticipation of July 2026 USMCA renegotiations and further clarity on tariff policy. Until that uncertainty resolves, leasing velocity is unlikely to accelerate meaningfully, and the gap between supply and demand will remain wide. Laredo also fell to second place among U.S. ports by trade volume in early 2026, trailing JFK International Airport with $58 billion in YTD trade volume through February, a continuation of the relative ranking decline noted in Q4.</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 sz="1000">
                <a:solidFill>
                  <a:schemeClr val="dk1"/>
                </a:solidFill>
                <a:latin typeface="Inter"/>
                <a:ea typeface="Inter"/>
                <a:cs typeface="Inter"/>
                <a:sym typeface="Inter"/>
              </a:rPr>
              <a:t>Investor takeaway</a:t>
            </a:r>
            <a:endParaRPr b="1"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000">
                <a:solidFill>
                  <a:schemeClr val="dk1"/>
                </a:solidFill>
                <a:latin typeface="Inter"/>
                <a:ea typeface="Inter"/>
                <a:cs typeface="Inter"/>
                <a:sym typeface="Inter"/>
              </a:rPr>
              <a:t>Laredo is in the most challenging phase of its cycle. Vacancy at 19.6% is a market-level number that reflects the consequences of speculative development running well ahead of demand, compounded by a tenant base that is unwilling to make long-term commitments until trade policy becomes clearer. The assets performing in this environment are older, functional Class B buildings in established locations, not the new Class A product that dominates the current pipeline. A meaningful recovery requires two things that are not yet in place: trade policy clarity and an extended pause in new construction. Until both arrive, the market has more room to fall than recover.</a:t>
            </a:r>
            <a:endParaRPr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200">
              <a:solidFill>
                <a:schemeClr val="dk1"/>
              </a:solidFill>
              <a:latin typeface="Schibsted Grotesk"/>
              <a:ea typeface="Schibsted Grotesk"/>
              <a:cs typeface="Schibsted Grotesk"/>
              <a:sym typeface="Schibsted Grotesk"/>
            </a:endParaRPr>
          </a:p>
          <a:p>
            <a:pPr indent="0" lvl="0" marL="0" rtl="0" algn="l">
              <a:spcBef>
                <a:spcPts val="0"/>
              </a:spcBef>
              <a:spcAft>
                <a:spcPts val="0"/>
              </a:spcAft>
              <a:buNone/>
            </a:pPr>
            <a:r>
              <a:t/>
            </a:r>
            <a:endParaRPr sz="1200">
              <a:solidFill>
                <a:schemeClr val="dk1"/>
              </a:solidFill>
              <a:latin typeface="Schibsted Grotesk"/>
              <a:ea typeface="Schibsted Grotesk"/>
              <a:cs typeface="Schibsted Grotesk"/>
              <a:sym typeface="Schibsted Grotesk"/>
            </a:endParaRPr>
          </a:p>
        </p:txBody>
      </p:sp>
      <p:sp>
        <p:nvSpPr>
          <p:cNvPr id="112" name="Google Shape;112;p10"/>
          <p:cNvSpPr txBox="1"/>
          <p:nvPr/>
        </p:nvSpPr>
        <p:spPr>
          <a:xfrm>
            <a:off x="5197498" y="301800"/>
            <a:ext cx="2277300" cy="4617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1" lang="en" sz="1000">
                <a:solidFill>
                  <a:schemeClr val="dk2"/>
                </a:solidFill>
                <a:latin typeface="Schibsted Grotesk"/>
                <a:ea typeface="Schibsted Grotesk"/>
                <a:cs typeface="Schibsted Grotesk"/>
                <a:sym typeface="Schibsted Grotesk"/>
              </a:rPr>
              <a:t>Q1 2026 Update</a:t>
            </a:r>
            <a:endParaRPr b="1" sz="1000">
              <a:solidFill>
                <a:schemeClr val="dk2"/>
              </a:solidFill>
              <a:latin typeface="Schibsted Grotesk"/>
              <a:ea typeface="Schibsted Grotesk"/>
              <a:cs typeface="Schibsted Grotesk"/>
              <a:sym typeface="Schibsted Grotesk"/>
            </a:endParaRPr>
          </a:p>
          <a:p>
            <a:pPr indent="0" lvl="0" marL="0" rtl="0" algn="r">
              <a:spcBef>
                <a:spcPts val="0"/>
              </a:spcBef>
              <a:spcAft>
                <a:spcPts val="0"/>
              </a:spcAft>
              <a:buNone/>
            </a:pPr>
            <a:r>
              <a:rPr lang="en" sz="1000">
                <a:solidFill>
                  <a:schemeClr val="dk2"/>
                </a:solidFill>
                <a:latin typeface="Schibsted Grotesk"/>
                <a:ea typeface="Schibsted Grotesk"/>
                <a:cs typeface="Schibsted Grotesk"/>
                <a:sym typeface="Schibsted Grotesk"/>
              </a:rPr>
              <a:t>1820 Aguila Azteca LLC</a:t>
            </a:r>
            <a:endParaRPr sz="1000">
              <a:solidFill>
                <a:schemeClr val="dk2"/>
              </a:solidFill>
              <a:latin typeface="Schibsted Grotesk"/>
              <a:ea typeface="Schibsted Grotesk"/>
              <a:cs typeface="Schibsted Grotesk"/>
              <a:sym typeface="Schibsted Grotesk"/>
            </a:endParaRPr>
          </a:p>
          <a:p>
            <a:pPr indent="0" lvl="0" marL="0" rtl="0" algn="r">
              <a:spcBef>
                <a:spcPts val="0"/>
              </a:spcBef>
              <a:spcAft>
                <a:spcPts val="0"/>
              </a:spcAft>
              <a:buNone/>
            </a:pPr>
            <a:r>
              <a:t/>
            </a:r>
            <a:endParaRPr b="1" sz="1000">
              <a:solidFill>
                <a:schemeClr val="dk2"/>
              </a:solidFill>
              <a:latin typeface="Schibsted Grotesk"/>
              <a:ea typeface="Schibsted Grotesk"/>
              <a:cs typeface="Schibsted Grotesk"/>
              <a:sym typeface="Schibsted Grotesk"/>
            </a:endParaRPr>
          </a:p>
        </p:txBody>
      </p:sp>
      <p:sp>
        <p:nvSpPr>
          <p:cNvPr id="113" name="Google Shape;113;p10"/>
          <p:cNvSpPr txBox="1"/>
          <p:nvPr>
            <p:ph idx="12" type="sldNum"/>
          </p:nvPr>
        </p:nvSpPr>
        <p:spPr>
          <a:xfrm>
            <a:off x="7135793" y="9616501"/>
            <a:ext cx="334800" cy="153900"/>
          </a:xfrm>
          <a:prstGeom prst="rect">
            <a:avLst/>
          </a:prstGeom>
        </p:spPr>
        <p:txBody>
          <a:bodyPr anchorCtr="0" anchor="ctr" bIns="0" lIns="0" spcFirstLastPara="1" rIns="0" wrap="square" tIns="0">
            <a:sp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Harbor Capital">
  <a:themeElements>
    <a:clrScheme name="Simple Light">
      <a:dk1>
        <a:srgbClr val="0E0E0E"/>
      </a:dk1>
      <a:lt1>
        <a:srgbClr val="FFFFFF"/>
      </a:lt1>
      <a:dk2>
        <a:srgbClr val="807F7F"/>
      </a:dk2>
      <a:lt2>
        <a:srgbClr val="F2F0F0"/>
      </a:lt2>
      <a:accent1>
        <a:srgbClr val="FFB03F"/>
      </a:accent1>
      <a:accent2>
        <a:srgbClr val="FFBD60"/>
      </a:accent2>
      <a:accent3>
        <a:srgbClr val="FFD08F"/>
      </a:accent3>
      <a:accent4>
        <a:srgbClr val="9FB4F3"/>
      </a:accent4>
      <a:accent5>
        <a:srgbClr val="BACBFF"/>
      </a:accent5>
      <a:accent6>
        <a:srgbClr val="B19FF3"/>
      </a:accent6>
      <a:hlink>
        <a:srgbClr val="FFBD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